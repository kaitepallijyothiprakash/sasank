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965960" cy="685800"/>
          </a:xfrm>
          <a:prstGeom prst="roundRect">
            <a:avLst>
              <a:gd name="adj" fmla="val 10667"/>
            </a:avLst>
          </a:prstGeom>
          <a:solidFill>
            <a:srgbClr val="162232"/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/ OpenAI GPT-4o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2468880" y="201168"/>
            <a:ext cx="1965960" cy="685800"/>
          </a:xfrm>
          <a:prstGeom prst="roundRect">
            <a:avLst>
              <a:gd name="adj" fmla="val 10667"/>
            </a:avLst>
          </a:prstGeom>
          <a:solidFill>
            <a:srgbClr val="162232"/>
          </a:solidFill>
          <a:ln w="19050">
            <a:solidFill>
              <a:srgbClr val="FFB3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468880" y="22860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468880" y="45720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 all-MiniLM-L6-v2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0" y="201168"/>
            <a:ext cx="1965960" cy="685800"/>
          </a:xfrm>
          <a:prstGeom prst="roundRect">
            <a:avLst>
              <a:gd name="adj" fmla="val 10667"/>
            </a:avLst>
          </a:prstGeom>
          <a:solidFill>
            <a:srgbClr val="162232"/>
          </a:solidFill>
          <a:ln w="19050">
            <a:solidFill>
              <a:srgbClr val="9B8E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22860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9B8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0" y="45720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675120" y="201168"/>
            <a:ext cx="1965960" cy="685800"/>
          </a:xfrm>
          <a:prstGeom prst="roundRect">
            <a:avLst>
              <a:gd name="adj" fmla="val 10667"/>
            </a:avLst>
          </a:prstGeom>
          <a:solidFill>
            <a:srgbClr val="162232"/>
          </a:solidFill>
          <a:ln w="19050">
            <a:solidFill>
              <a:srgbClr val="4A9E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0" y="22860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675120" y="45720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· Docker · EKS/AKS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" y="10515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 RAG</a:t>
            </a:r>
            <a:endParaRPr lang="en-US" sz="6200" dirty="0"/>
          </a:p>
        </p:txBody>
      </p:sp>
      <p:sp>
        <p:nvSpPr>
          <p:cNvPr id="15" name="Text 13"/>
          <p:cNvSpPr/>
          <p:nvPr/>
        </p:nvSpPr>
        <p:spPr>
          <a:xfrm>
            <a:off x="457200" y="20574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00C9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 Intelligence Platform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457200" y="2880360"/>
            <a:ext cx="8229600" cy="3200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017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 ·  LangChain  ·  FAISS  ·  Docker  ·  Kubernetes  ·  GitHub Actions  ·  Python 3.x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Manam Vengala Rao  ·  20696694  ·  DevOps Batch 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04672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20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RAG Document Intelligence Platform  ·  20 Slides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2743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170432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162232"/>
          </a:solidFill>
          <a:ln w="12700">
            <a:solidFill>
              <a:srgbClr val="1E3A5A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29768" y="1298448"/>
            <a:ext cx="384048" cy="38404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298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05256" y="1225296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05256" y="149047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enterprises struggle with document retrieval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09160" y="1170432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162232"/>
          </a:solidFill>
          <a:ln w="12700">
            <a:solidFill>
              <a:srgbClr val="1E3A5A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18888" y="1298448"/>
            <a:ext cx="384048" cy="384048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18888" y="1298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294376" y="1225296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94376" y="149047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architecture overview and objectives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" y="1901952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162232"/>
          </a:solidFill>
          <a:ln w="12700">
            <a:solidFill>
              <a:srgbClr val="1E3A5A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29768" y="2029968"/>
            <a:ext cx="384048" cy="384048"/>
          </a:xfrm>
          <a:prstGeom prst="ellipse">
            <a:avLst/>
          </a:prstGeom>
          <a:solidFill>
            <a:srgbClr val="9B8EC4"/>
          </a:solidFill>
          <a:ln w="12700">
            <a:solidFill>
              <a:srgbClr val="9B8EC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" y="2029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05256" y="1956816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05256" y="222199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+ Query pipeline walkthrough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09160" y="1901952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162232"/>
          </a:solidFill>
          <a:ln w="12700">
            <a:solidFill>
              <a:srgbClr val="1E3A5A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18888" y="2029968"/>
            <a:ext cx="384048" cy="384048"/>
          </a:xfrm>
          <a:prstGeom prst="ellipse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18888" y="2029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94376" y="1956816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Processing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294376" y="222199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→ Chunk → Embed → FAISS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2633472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162232"/>
          </a:solidFill>
          <a:ln w="12700">
            <a:solidFill>
              <a:srgbClr val="1E3A5A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29768" y="2761488"/>
            <a:ext cx="384048" cy="38404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9768" y="2761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05256" y="2688336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Workflow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05256" y="295351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Orchestration, retrieval, prompt engineering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09160" y="2633472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162232"/>
          </a:solidFill>
          <a:ln w="12700">
            <a:solidFill>
              <a:srgbClr val="1E3A5A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18888" y="2761488"/>
            <a:ext cx="384048" cy="384048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18888" y="2761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294376" y="2688336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Generation Layer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294376" y="295351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&amp; OpenAI GPT-4o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20040" y="3364992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162232"/>
          </a:solidFill>
          <a:ln w="12700">
            <a:solidFill>
              <a:srgbClr val="1E3A5A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29768" y="3493008"/>
            <a:ext cx="384048" cy="384048"/>
          </a:xfrm>
          <a:prstGeom prst="ellipse">
            <a:avLst/>
          </a:prstGeom>
          <a:solidFill>
            <a:srgbClr val="9B8EC4"/>
          </a:solidFill>
          <a:ln w="12700">
            <a:solidFill>
              <a:srgbClr val="9B8EC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29768" y="3493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905256" y="3419856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UI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05256" y="368503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upload, chat, session management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709160" y="3364992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162232"/>
          </a:solidFill>
          <a:ln w="12700">
            <a:solidFill>
              <a:srgbClr val="1E3A5A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818888" y="3493008"/>
            <a:ext cx="384048" cy="384048"/>
          </a:xfrm>
          <a:prstGeom prst="ellipse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18888" y="3493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294376" y="3419856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&amp; Kubernetes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294376" y="368503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Containerisation and orchestration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20040" y="4096512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162232"/>
          </a:solidFill>
          <a:ln w="12700">
            <a:solidFill>
              <a:srgbClr val="1E3A5A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29768" y="4224528"/>
            <a:ext cx="384048" cy="38404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29768" y="4224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905256" y="4151376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905256" y="441655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— test → build → deploy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709160" y="4096512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162232"/>
          </a:solidFill>
          <a:ln w="12700">
            <a:solidFill>
              <a:srgbClr val="1E3A5A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4818888" y="4224528"/>
            <a:ext cx="384048" cy="384048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18888" y="4224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5294376" y="4151376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Future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5294376" y="441655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coverage, security and enhancements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804672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Document Challenges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2743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234440"/>
            <a:ext cx="4069080" cy="1508760"/>
          </a:xfrm>
          <a:prstGeom prst="roundRect">
            <a:avLst>
              <a:gd name="adj" fmla="val 6061"/>
            </a:avLst>
          </a:prstGeom>
          <a:solidFill>
            <a:srgbClr val="162232"/>
          </a:solidFill>
          <a:ln w="12700">
            <a:solidFill>
              <a:srgbClr val="1E3A5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417320"/>
            <a:ext cx="457200" cy="45720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137160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Document Search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4632" y="187452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spent browsing PDFs before any client deliverable. No semantic understanding — only keyword matching.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09160" y="1234440"/>
            <a:ext cx="4069080" cy="1508760"/>
          </a:xfrm>
          <a:prstGeom prst="roundRect">
            <a:avLst>
              <a:gd name="adj" fmla="val 6061"/>
            </a:avLst>
          </a:prstGeom>
          <a:solidFill>
            <a:srgbClr val="162232"/>
          </a:solidFill>
          <a:ln w="12700">
            <a:solidFill>
              <a:srgbClr val="1E3A5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92040" y="1417320"/>
            <a:ext cx="457200" cy="45720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0" y="137160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Silos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73752" y="187452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locked in unstructured PDFs. Knowledge depends on personal familiarity rather than intelligent search.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" y="2926080"/>
            <a:ext cx="4069080" cy="1508760"/>
          </a:xfrm>
          <a:prstGeom prst="roundRect">
            <a:avLst>
              <a:gd name="adj" fmla="val 6061"/>
            </a:avLst>
          </a:prstGeom>
          <a:solidFill>
            <a:srgbClr val="162232"/>
          </a:solidFill>
          <a:ln w="12700">
            <a:solidFill>
              <a:srgbClr val="1E3A5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" y="3108960"/>
            <a:ext cx="457200" cy="457200"/>
          </a:xfrm>
          <a:prstGeom prst="ellipse">
            <a:avLst/>
          </a:prstGeom>
          <a:solidFill>
            <a:srgbClr val="9B8EC4"/>
          </a:solidFill>
          <a:ln w="12700">
            <a:solidFill>
              <a:srgbClr val="9B8E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306324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Risk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" y="356616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Outdated policy versions referenced in reports. New employees take weeks to navigate the document library.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09160" y="2926080"/>
            <a:ext cx="4069080" cy="1508760"/>
          </a:xfrm>
          <a:prstGeom prst="roundRect">
            <a:avLst>
              <a:gd name="adj" fmla="val 6061"/>
            </a:avLst>
          </a:prstGeom>
          <a:solidFill>
            <a:srgbClr val="162232"/>
          </a:solidFill>
          <a:ln w="12700">
            <a:solidFill>
              <a:srgbClr val="1E3A5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92040" y="3108960"/>
            <a:ext cx="457200" cy="457200"/>
          </a:xfrm>
          <a:prstGeom prst="ellipse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0" y="306324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Hallucination Problem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73752" y="356616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AI chatbots can't answer org-specific questions. Pre-trained knowledge lacks company documents.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" y="4572000"/>
            <a:ext cx="8503920" cy="347472"/>
          </a:xfrm>
          <a:prstGeom prst="roundRect">
            <a:avLst>
              <a:gd name="adj" fmla="val 15789"/>
            </a:avLst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457200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Target — Reduce manual document search effort by at least 70% using RAG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04672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 &amp; Technology Stack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component chosen for capability, cost, and compatibility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2743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207008"/>
            <a:ext cx="4023360" cy="1097280"/>
          </a:xfrm>
          <a:prstGeom prst="roundRect">
            <a:avLst>
              <a:gd name="adj" fmla="val 6667"/>
            </a:avLst>
          </a:prstGeom>
          <a:solidFill>
            <a:srgbClr val="162232"/>
          </a:solidFill>
          <a:ln w="12700">
            <a:solidFill>
              <a:srgbClr val="1E3A5A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25880"/>
            <a:ext cx="54864" cy="822960"/>
          </a:xfrm>
          <a:prstGeom prst="roundRect">
            <a:avLst>
              <a:gd name="adj" fmla="val 50000"/>
            </a:avLst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129844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12648" y="15087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Gemini 2.5 Flash / Pro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12648" y="184708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reasoning · Long context · Fast response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17720" y="1207008"/>
            <a:ext cx="4023360" cy="1097280"/>
          </a:xfrm>
          <a:prstGeom prst="roundRect">
            <a:avLst>
              <a:gd name="adj" fmla="val 6667"/>
            </a:avLst>
          </a:prstGeom>
          <a:solidFill>
            <a:srgbClr val="162232"/>
          </a:solidFill>
          <a:ln w="12700">
            <a:solidFill>
              <a:srgbClr val="1E3A5A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325880"/>
            <a:ext cx="54864" cy="822960"/>
          </a:xfrm>
          <a:prstGeom prst="roundRect">
            <a:avLst>
              <a:gd name="adj" fmla="val 50000"/>
            </a:avLst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10328" y="129844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910328" y="15087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HuggingFace all-MiniLM-L6-v2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10328" y="184708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vectors · Local execution · No API cost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" y="2441448"/>
            <a:ext cx="4023360" cy="1097280"/>
          </a:xfrm>
          <a:prstGeom prst="roundRect">
            <a:avLst>
              <a:gd name="adj" fmla="val 6667"/>
            </a:avLst>
          </a:prstGeom>
          <a:solidFill>
            <a:srgbClr val="162232"/>
          </a:solidFill>
          <a:ln w="12700">
            <a:solidFill>
              <a:srgbClr val="1E3A5A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560320"/>
            <a:ext cx="54864" cy="822960"/>
          </a:xfrm>
          <a:prstGeom prst="roundRect">
            <a:avLst>
              <a:gd name="adj" fmla="val 50000"/>
            </a:avLst>
          </a:prstGeom>
          <a:solidFill>
            <a:srgbClr val="9B8EC4"/>
          </a:solidFill>
          <a:ln w="12700">
            <a:solidFill>
              <a:srgbClr val="9B8EC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" y="253288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9B8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12648" y="27432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FAISS (Facebook AI)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2648" y="308152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High-speed similarity search · Scales to millions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17720" y="2441448"/>
            <a:ext cx="4023360" cy="1097280"/>
          </a:xfrm>
          <a:prstGeom prst="roundRect">
            <a:avLst>
              <a:gd name="adj" fmla="val 6667"/>
            </a:avLst>
          </a:prstGeom>
          <a:solidFill>
            <a:srgbClr val="162232"/>
          </a:solidFill>
          <a:ln w="12700">
            <a:solidFill>
              <a:srgbClr val="1E3A5A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560320"/>
            <a:ext cx="54864" cy="822960"/>
          </a:xfrm>
          <a:prstGeom prst="roundRect">
            <a:avLst>
              <a:gd name="adj" fmla="val 50000"/>
            </a:avLst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0328" y="253288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PARSER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910328" y="27432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PyPDF + LangChain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10328" y="308152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RecursiveCharacterTextSplitter · 1000/200 chunks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3675888"/>
            <a:ext cx="4023360" cy="1097280"/>
          </a:xfrm>
          <a:prstGeom prst="roundRect">
            <a:avLst>
              <a:gd name="adj" fmla="val 6667"/>
            </a:avLst>
          </a:prstGeom>
          <a:solidFill>
            <a:srgbClr val="162232"/>
          </a:solidFill>
          <a:ln w="12700">
            <a:solidFill>
              <a:srgbClr val="1E3A5A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3794760"/>
            <a:ext cx="54864" cy="822960"/>
          </a:xfrm>
          <a:prstGeom prst="roundRect">
            <a:avLst>
              <a:gd name="adj" fmla="val 50000"/>
            </a:avLst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2648" y="376732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12648" y="39776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Streamlit 1.x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12648" y="431596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· History · Session state · File upload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17720" y="3675888"/>
            <a:ext cx="4023360" cy="1097280"/>
          </a:xfrm>
          <a:prstGeom prst="roundRect">
            <a:avLst>
              <a:gd name="adj" fmla="val 6667"/>
            </a:avLst>
          </a:prstGeom>
          <a:solidFill>
            <a:srgbClr val="162232"/>
          </a:solidFill>
          <a:ln w="12700">
            <a:solidFill>
              <a:srgbClr val="1E3A5A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3794760"/>
            <a:ext cx="54864" cy="822960"/>
          </a:xfrm>
          <a:prstGeom prst="roundRect">
            <a:avLst>
              <a:gd name="adj" fmla="val 50000"/>
            </a:avLst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10328" y="376732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910328" y="39776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 + Kubernetes (EKS/AKS)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910328" y="431596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2+ replicas · HPA 2→10 · GitHub Actions CI/CD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804672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RAG pipeline — ingestion + query share one FAISS vector store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2743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8412480" cy="320040"/>
          </a:xfrm>
          <a:prstGeom prst="roundRect">
            <a:avLst>
              <a:gd name="adj" fmla="val 11429"/>
            </a:avLst>
          </a:prstGeom>
          <a:solidFill>
            <a:srgbClr val="162232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344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783080" y="12344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26280" y="1234440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508760"/>
            <a:ext cx="8412480" cy="457200"/>
          </a:xfrm>
          <a:prstGeom prst="rect">
            <a:avLst/>
          </a:prstGeom>
          <a:solidFill>
            <a:srgbClr val="132030"/>
          </a:solidFill>
          <a:ln w="6350">
            <a:solidFill>
              <a:srgbClr val="1E3A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618488"/>
            <a:ext cx="201168" cy="20116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160020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160020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Web Interface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480560" y="16002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PDF uploads and natural language queries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1984248"/>
            <a:ext cx="8412480" cy="457200"/>
          </a:xfrm>
          <a:prstGeom prst="rect">
            <a:avLst/>
          </a:prstGeom>
          <a:solidFill>
            <a:srgbClr val="0F1A28"/>
          </a:solidFill>
          <a:ln w="6350">
            <a:solidFill>
              <a:srgbClr val="1E3A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093976"/>
            <a:ext cx="201168" cy="201168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207568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737360" y="207568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PyPDF + LangChain Text Splitter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480560" y="207568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PDFs and divide into overlapping chunks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2459736"/>
            <a:ext cx="8412480" cy="457200"/>
          </a:xfrm>
          <a:prstGeom prst="rect">
            <a:avLst/>
          </a:prstGeom>
          <a:solidFill>
            <a:srgbClr val="132030"/>
          </a:solidFill>
          <a:ln w="6350">
            <a:solidFill>
              <a:srgbClr val="1E3A5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2569464"/>
            <a:ext cx="201168" cy="201168"/>
          </a:xfrm>
          <a:prstGeom prst="ellipse">
            <a:avLst/>
          </a:prstGeom>
          <a:solidFill>
            <a:srgbClr val="9B8EC4"/>
          </a:solidFill>
          <a:ln w="12700">
            <a:solidFill>
              <a:srgbClr val="9B8EC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" y="2551176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2551176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 Sentence Transformers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480560" y="255117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text chunks into dense vector representations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2935224"/>
            <a:ext cx="8412480" cy="457200"/>
          </a:xfrm>
          <a:prstGeom prst="rect">
            <a:avLst/>
          </a:prstGeom>
          <a:solidFill>
            <a:srgbClr val="0F1A28"/>
          </a:solidFill>
          <a:ln w="6350">
            <a:solidFill>
              <a:srgbClr val="1E3A5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3044952"/>
            <a:ext cx="201168" cy="201168"/>
          </a:xfrm>
          <a:prstGeom prst="ellipse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3232" y="302666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737360" y="3026664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Vector Database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480560" y="302666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and index embeddings for fast similarity search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65760" y="3410712"/>
            <a:ext cx="8412480" cy="457200"/>
          </a:xfrm>
          <a:prstGeom prst="rect">
            <a:avLst/>
          </a:prstGeom>
          <a:solidFill>
            <a:srgbClr val="132030"/>
          </a:solidFill>
          <a:ln w="6350">
            <a:solidFill>
              <a:srgbClr val="1E3A5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3520440"/>
            <a:ext cx="201168" cy="20116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3232" y="350215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350215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Semantic Search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480560" y="350215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Top-K relevant chunks for a given query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65760" y="3886200"/>
            <a:ext cx="8412480" cy="457200"/>
          </a:xfrm>
          <a:prstGeom prst="rect">
            <a:avLst/>
          </a:prstGeom>
          <a:solidFill>
            <a:srgbClr val="0F1A28"/>
          </a:solidFill>
          <a:ln w="6350">
            <a:solidFill>
              <a:srgbClr val="1E3A5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" y="3995928"/>
            <a:ext cx="201168" cy="201168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3232" y="397764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737360" y="397764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/ OpenAI GPT-4o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480560" y="39776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context-aware answers from retrieved chunks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65760" y="4361688"/>
            <a:ext cx="8412480" cy="457200"/>
          </a:xfrm>
          <a:prstGeom prst="rect">
            <a:avLst/>
          </a:prstGeom>
          <a:solidFill>
            <a:srgbClr val="132030"/>
          </a:solidFill>
          <a:ln w="6350">
            <a:solidFill>
              <a:srgbClr val="1E3A5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57200" y="4471416"/>
            <a:ext cx="201168" cy="201168"/>
          </a:xfrm>
          <a:prstGeom prst="ellipse">
            <a:avLst/>
          </a:prstGeom>
          <a:solidFill>
            <a:srgbClr val="9B8EC4"/>
          </a:solidFill>
          <a:ln w="12700">
            <a:solidFill>
              <a:srgbClr val="9B8EC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3232" y="445312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737360" y="445312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Chat Interface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480560" y="445312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AI responses with conversation history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804672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 Processing Pipeline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Upload → Parse → Chunk → Embed → Store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2743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188720"/>
            <a:ext cx="1609344" cy="3474720"/>
          </a:xfrm>
          <a:prstGeom prst="roundRect">
            <a:avLst>
              <a:gd name="adj" fmla="val 4545"/>
            </a:avLst>
          </a:prstGeom>
          <a:solidFill>
            <a:srgbClr val="162232"/>
          </a:solidFill>
          <a:ln w="12700">
            <a:solidFill>
              <a:srgbClr val="1E3A5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1325880"/>
            <a:ext cx="457200" cy="45720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874520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Upload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2304288"/>
            <a:ext cx="142646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web interface</a:t>
            </a:r>
            <a:endParaRPr lang="en-US" sz="900" dirty="0"/>
          </a:p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&amp; size validation</a:t>
            </a:r>
            <a:endParaRPr lang="en-US" sz="900" dirty="0"/>
          </a:p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Corrupted file detection</a:t>
            </a:r>
            <a:endParaRPr lang="en-US" sz="900" dirty="0"/>
          </a:p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Supported: PDF only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938528" y="2889504"/>
            <a:ext cx="64008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02536" y="1188720"/>
            <a:ext cx="1609344" cy="3474720"/>
          </a:xfrm>
          <a:prstGeom prst="roundRect">
            <a:avLst>
              <a:gd name="adj" fmla="val 4545"/>
            </a:avLst>
          </a:prstGeom>
          <a:solidFill>
            <a:srgbClr val="162232"/>
          </a:solidFill>
          <a:ln w="12700">
            <a:solidFill>
              <a:srgbClr val="1E3A5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78608" y="1325880"/>
            <a:ext cx="457200" cy="45720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78608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093976" y="1874520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Parsing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093976" y="2304288"/>
            <a:ext cx="142646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PyPDF library extraction</a:t>
            </a:r>
            <a:endParaRPr lang="en-US" sz="900" dirty="0"/>
          </a:p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Preserves reading order</a:t>
            </a:r>
            <a:endParaRPr lang="en-US" sz="900" dirty="0"/>
          </a:p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Header/footer removal</a:t>
            </a:r>
            <a:endParaRPr lang="en-US" sz="900" dirty="0"/>
          </a:p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Multi-page handling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21024" y="2889504"/>
            <a:ext cx="64008" cy="73152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85032" y="1188720"/>
            <a:ext cx="1609344" cy="3474720"/>
          </a:xfrm>
          <a:prstGeom prst="roundRect">
            <a:avLst>
              <a:gd name="adj" fmla="val 4545"/>
            </a:avLst>
          </a:prstGeom>
          <a:solidFill>
            <a:srgbClr val="162232"/>
          </a:solidFill>
          <a:ln w="12700">
            <a:solidFill>
              <a:srgbClr val="1E3A5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261104" y="1325880"/>
            <a:ext cx="457200" cy="457200"/>
          </a:xfrm>
          <a:prstGeom prst="ellipse">
            <a:avLst/>
          </a:prstGeom>
          <a:solidFill>
            <a:srgbClr val="9B8EC4"/>
          </a:solidFill>
          <a:ln w="12700">
            <a:solidFill>
              <a:srgbClr val="9B8EC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61104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776472" y="1874520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Chunking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776472" y="2304288"/>
            <a:ext cx="142646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1000-char chunk size</a:t>
            </a:r>
            <a:endParaRPr lang="en-US" sz="900" dirty="0"/>
          </a:p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200-char overlap</a:t>
            </a:r>
            <a:endParaRPr lang="en-US" sz="900" dirty="0"/>
          </a:p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+ page metadata</a:t>
            </a:r>
            <a:endParaRPr lang="en-US" sz="900" dirty="0"/>
          </a:p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chunk ID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303520" y="2889504"/>
            <a:ext cx="64008" cy="73152"/>
          </a:xfrm>
          <a:prstGeom prst="rect">
            <a:avLst/>
          </a:prstGeom>
          <a:solidFill>
            <a:srgbClr val="9B8EC4"/>
          </a:solidFill>
          <a:ln w="12700">
            <a:solidFill>
              <a:srgbClr val="9B8EC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67528" y="1188720"/>
            <a:ext cx="1609344" cy="3474720"/>
          </a:xfrm>
          <a:prstGeom prst="roundRect">
            <a:avLst>
              <a:gd name="adj" fmla="val 4545"/>
            </a:avLst>
          </a:prstGeom>
          <a:solidFill>
            <a:srgbClr val="162232"/>
          </a:solidFill>
          <a:ln w="12700">
            <a:solidFill>
              <a:srgbClr val="1E3A5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943600" y="1325880"/>
            <a:ext cx="457200" cy="457200"/>
          </a:xfrm>
          <a:prstGeom prst="ellipse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58968" y="1874520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58968" y="2304288"/>
            <a:ext cx="142646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all-MiniLM-L6-v2 model</a:t>
            </a:r>
            <a:endParaRPr lang="en-US" sz="900" dirty="0"/>
          </a:p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semantic vectors</a:t>
            </a:r>
            <a:endParaRPr lang="en-US" sz="900" dirty="0"/>
          </a:p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similarity capture</a:t>
            </a:r>
            <a:endParaRPr lang="en-US" sz="900" dirty="0"/>
          </a:p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execution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986016" y="2889504"/>
            <a:ext cx="64008" cy="73152"/>
          </a:xfrm>
          <a:prstGeom prst="rect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050024" y="1188720"/>
            <a:ext cx="1609344" cy="3474720"/>
          </a:xfrm>
          <a:prstGeom prst="roundRect">
            <a:avLst>
              <a:gd name="adj" fmla="val 4545"/>
            </a:avLst>
          </a:prstGeom>
          <a:solidFill>
            <a:srgbClr val="162232"/>
          </a:solidFill>
          <a:ln w="12700">
            <a:solidFill>
              <a:srgbClr val="1E3A5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626096" y="1325880"/>
            <a:ext cx="457200" cy="45720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26096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141464" y="1874520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Storage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141464" y="2304288"/>
            <a:ext cx="142646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index creation</a:t>
            </a:r>
            <a:endParaRPr lang="en-US" sz="900" dirty="0"/>
          </a:p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+ metadata saved</a:t>
            </a:r>
            <a:endParaRPr lang="en-US" sz="900" dirty="0"/>
          </a:p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nearest-neighbor lookup</a:t>
            </a:r>
            <a:endParaRPr lang="en-US" sz="900" dirty="0"/>
          </a:p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to millions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04672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LangChain Workflow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framework connecting every RAG pipeline stage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2743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188720"/>
            <a:ext cx="8503920" cy="658368"/>
          </a:xfrm>
          <a:prstGeom prst="roundRect">
            <a:avLst>
              <a:gd name="adj" fmla="val 11111"/>
            </a:avLst>
          </a:prstGeom>
          <a:solidFill>
            <a:srgbClr val="162232"/>
          </a:solidFill>
          <a:ln w="12700">
            <a:solidFill>
              <a:srgbClr val="1E3A5A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16736"/>
            <a:ext cx="384048" cy="38404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16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12527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Loader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29000" y="1280160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PDF files into LangChain Document objects with page content, metadata, and source information.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" y="1938528"/>
            <a:ext cx="8503920" cy="658368"/>
          </a:xfrm>
          <a:prstGeom prst="roundRect">
            <a:avLst>
              <a:gd name="adj" fmla="val 11111"/>
            </a:avLst>
          </a:prstGeom>
          <a:solidFill>
            <a:srgbClr val="162232"/>
          </a:solidFill>
          <a:ln w="12700">
            <a:solidFill>
              <a:srgbClr val="1E3A5A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066544"/>
            <a:ext cx="384048" cy="384048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066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200253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Text Splitter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29000" y="2029968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Intelligently divides documents using paragraph, sentence, and line separators. Chunk: 1000 chars, Overlap: 200 chars.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" y="2688336"/>
            <a:ext cx="8503920" cy="658368"/>
          </a:xfrm>
          <a:prstGeom prst="roundRect">
            <a:avLst>
              <a:gd name="adj" fmla="val 11111"/>
            </a:avLst>
          </a:prstGeom>
          <a:solidFill>
            <a:srgbClr val="162232"/>
          </a:solidFill>
          <a:ln w="12700">
            <a:solidFill>
              <a:srgbClr val="1E3A5A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816352"/>
            <a:ext cx="384048" cy="384048"/>
          </a:xfrm>
          <a:prstGeom prst="ellipse">
            <a:avLst/>
          </a:prstGeom>
          <a:solidFill>
            <a:srgbClr val="9B8EC4"/>
          </a:solidFill>
          <a:ln w="12700">
            <a:solidFill>
              <a:srgbClr val="9B8EC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816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0120" y="275234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 Integration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29000" y="2779776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provides seamless FAISS integration — auto-creates the index, stores vectors, saves metadata.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3438144"/>
            <a:ext cx="8503920" cy="658368"/>
          </a:xfrm>
          <a:prstGeom prst="roundRect">
            <a:avLst>
              <a:gd name="adj" fmla="val 11111"/>
            </a:avLst>
          </a:prstGeom>
          <a:solidFill>
            <a:srgbClr val="162232"/>
          </a:solidFill>
          <a:ln w="12700">
            <a:solidFill>
              <a:srgbClr val="1E3A5A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566160"/>
            <a:ext cx="384048" cy="384048"/>
          </a:xfrm>
          <a:prstGeom prst="ellipse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566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35021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Retriever Configuration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429000" y="3529584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Top-K: 5 results  ·  Cosine Similarity scoring  ·  Metadata filtering enabled for source citation.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4187952"/>
            <a:ext cx="8503920" cy="658368"/>
          </a:xfrm>
          <a:prstGeom prst="roundRect">
            <a:avLst>
              <a:gd name="adj" fmla="val 11111"/>
            </a:avLst>
          </a:prstGeom>
          <a:solidFill>
            <a:srgbClr val="162232"/>
          </a:solidFill>
          <a:ln w="12700">
            <a:solidFill>
              <a:srgbClr val="1E3A5A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4315968"/>
            <a:ext cx="384048" cy="38404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315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60120" y="42519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Template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429000" y="4279392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System: You are an Enterprise AI Document Assistant.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ONLY using the provided document context.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Context: &lt;FAISS Chunks&gt;  ·  Question: &lt;User Input&gt;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04672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Generation Layer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retrieved context into accurate, human-readable answers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2743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207008"/>
            <a:ext cx="4114800" cy="3611880"/>
          </a:xfrm>
          <a:prstGeom prst="roundRect">
            <a:avLst>
              <a:gd name="adj" fmla="val 2025"/>
            </a:avLst>
          </a:prstGeom>
          <a:solidFill>
            <a:srgbClr val="162232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984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Models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719072"/>
            <a:ext cx="3840480" cy="612648"/>
          </a:xfrm>
          <a:prstGeom prst="roundRect">
            <a:avLst>
              <a:gd name="adj" fmla="val 8955"/>
            </a:avLst>
          </a:prstGeom>
          <a:solidFill>
            <a:srgbClr val="0F1A28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856232"/>
            <a:ext cx="320040" cy="32004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177393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987552" y="195681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87552" y="213055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cost-efficient enterprise use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57200" y="2423160"/>
            <a:ext cx="3840480" cy="612648"/>
          </a:xfrm>
          <a:prstGeom prst="roundRect">
            <a:avLst>
              <a:gd name="adj" fmla="val 8955"/>
            </a:avLst>
          </a:prstGeom>
          <a:solidFill>
            <a:srgbClr val="0F1A28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6928" y="2560320"/>
            <a:ext cx="320040" cy="32004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7552" y="247802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987552" y="266090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Pro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87552" y="283464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reasoning for complex docs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57200" y="3127248"/>
            <a:ext cx="3840480" cy="612648"/>
          </a:xfrm>
          <a:prstGeom prst="roundRect">
            <a:avLst>
              <a:gd name="adj" fmla="val 8955"/>
            </a:avLst>
          </a:prstGeom>
          <a:solidFill>
            <a:srgbClr val="0F1A28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6928" y="3264408"/>
            <a:ext cx="320040" cy="32004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7552" y="318211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987552" y="336499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87552" y="3538728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High-accuracy alternative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57200" y="3831336"/>
            <a:ext cx="3840480" cy="612648"/>
          </a:xfrm>
          <a:prstGeom prst="roundRect">
            <a:avLst>
              <a:gd name="adj" fmla="val 8955"/>
            </a:avLst>
          </a:prstGeom>
          <a:solidFill>
            <a:srgbClr val="0F1A28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6928" y="3968496"/>
            <a:ext cx="320040" cy="32004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7552" y="38862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987552" y="40690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GPT-4.1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87552" y="4242816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reasoning alternative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709160" y="1207008"/>
            <a:ext cx="4114800" cy="3611880"/>
          </a:xfrm>
          <a:prstGeom prst="roundRect">
            <a:avLst>
              <a:gd name="adj" fmla="val 2025"/>
            </a:avLst>
          </a:prstGeom>
          <a:solidFill>
            <a:srgbClr val="162232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12984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Generation Workflow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828032" y="1691640"/>
            <a:ext cx="256032" cy="256032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28032" y="16916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193792" y="170992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submits a question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28032" y="2121408"/>
            <a:ext cx="256032" cy="256032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28032" y="21214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193792" y="213969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embedding is generated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28032" y="2551176"/>
            <a:ext cx="256032" cy="256032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28032" y="25511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193792" y="256946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retrieves top relevant chunks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828032" y="2980944"/>
            <a:ext cx="256032" cy="256032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28032" y="29809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193792" y="299923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constructs the final prompt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828032" y="3410712"/>
            <a:ext cx="256032" cy="256032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28032" y="34107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193792" y="34290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/ OpenAI processes the prompt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828032" y="3840480"/>
            <a:ext cx="256032" cy="256032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28032" y="38404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193792" y="385876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returned to Streamlit chat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828032" y="4270248"/>
            <a:ext cx="256032" cy="256032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28032" y="42702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193792" y="428853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history is updated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804672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Streamlit Web Application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yet powerful enterprise document interface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2743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234440"/>
            <a:ext cx="4023360" cy="1627632"/>
          </a:xfrm>
          <a:prstGeom prst="roundRect">
            <a:avLst>
              <a:gd name="adj" fmla="val 4494"/>
            </a:avLst>
          </a:prstGeom>
          <a:solidFill>
            <a:srgbClr val="162232"/>
          </a:solidFill>
          <a:ln w="12700">
            <a:solidFill>
              <a:srgbClr val="1E3A5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54864" cy="1280160"/>
          </a:xfrm>
          <a:prstGeom prst="roundRect">
            <a:avLst>
              <a:gd name="adj" fmla="val 50000"/>
            </a:avLst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1344168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Upload Panel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12648" y="1709928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Drag-and-drop multi-PDF upload via sidebar. Real-time validation, duplicate detection, progress indicator, and automatic indexing on upload.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17720" y="1234440"/>
            <a:ext cx="4023360" cy="1627632"/>
          </a:xfrm>
          <a:prstGeom prst="roundRect">
            <a:avLst>
              <a:gd name="adj" fmla="val 4494"/>
            </a:avLst>
          </a:prstGeom>
          <a:solidFill>
            <a:srgbClr val="162232"/>
          </a:solidFill>
          <a:ln w="12700">
            <a:solidFill>
              <a:srgbClr val="1E3A5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371600"/>
            <a:ext cx="54864" cy="1280160"/>
          </a:xfrm>
          <a:prstGeom prst="roundRect">
            <a:avLst>
              <a:gd name="adj" fmla="val 50000"/>
            </a:avLst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10328" y="1344168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Interface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10328" y="1709928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query window with user &amp; AI message bubbles, scrollable history, real-time response rendering, and citation-ready answers.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3017520"/>
            <a:ext cx="4023360" cy="1627632"/>
          </a:xfrm>
          <a:prstGeom prst="roundRect">
            <a:avLst>
              <a:gd name="adj" fmla="val 4494"/>
            </a:avLst>
          </a:prstGeom>
          <a:solidFill>
            <a:srgbClr val="162232"/>
          </a:solidFill>
          <a:ln w="12700">
            <a:solidFill>
              <a:srgbClr val="1E3A5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154680"/>
            <a:ext cx="54864" cy="1280160"/>
          </a:xfrm>
          <a:prstGeom prst="roundRect">
            <a:avLst>
              <a:gd name="adj" fmla="val 50000"/>
            </a:avLst>
          </a:prstGeom>
          <a:solidFill>
            <a:srgbClr val="9B8EC4"/>
          </a:solidFill>
          <a:ln w="12700">
            <a:solidFill>
              <a:srgbClr val="9B8E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" y="3127248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Management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2648" y="3493008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Session State preserves: uploaded document list, FAISS index reference, conversation history, and all user queries/responses.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17720" y="3017520"/>
            <a:ext cx="4023360" cy="1627632"/>
          </a:xfrm>
          <a:prstGeom prst="roundRect">
            <a:avLst>
              <a:gd name="adj" fmla="val 4494"/>
            </a:avLst>
          </a:prstGeom>
          <a:solidFill>
            <a:srgbClr val="162232"/>
          </a:solidFill>
          <a:ln w="12700">
            <a:solidFill>
              <a:srgbClr val="1E3A5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3154680"/>
            <a:ext cx="54864" cy="1280160"/>
          </a:xfrm>
          <a:prstGeom prst="roundRect">
            <a:avLst>
              <a:gd name="adj" fmla="val 50000"/>
            </a:avLst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0328" y="3127248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10328" y="3493008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Covers: missing API keys, invalid PDFs, empty documents, unsupported file types, network failures, API rate limits, empty retrieval results.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04672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 &amp; Kubernetes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Containerised deployment with auto-scaling orchestration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2743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207008"/>
            <a:ext cx="3977640" cy="3657600"/>
          </a:xfrm>
          <a:prstGeom prst="roundRect">
            <a:avLst>
              <a:gd name="adj" fmla="val 2500"/>
            </a:avLst>
          </a:prstGeom>
          <a:solidFill>
            <a:srgbClr val="162232"/>
          </a:solidFill>
          <a:ln w="12700">
            <a:solidFill>
              <a:srgbClr val="1E3A5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2984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Containerisation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58191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Multi-stage build  ·  python:3.11-slim  ·  Non-root user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883664"/>
            <a:ext cx="3703320" cy="621792"/>
          </a:xfrm>
          <a:prstGeom prst="roundRect">
            <a:avLst>
              <a:gd name="adj" fmla="val 7353"/>
            </a:avLst>
          </a:prstGeom>
          <a:solidFill>
            <a:srgbClr val="0F1A28"/>
          </a:solidFill>
          <a:ln w="6350">
            <a:solidFill>
              <a:srgbClr val="1E3A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92024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· Builder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213055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compiler tools, build-essential, pip install all dependencies into /install prefix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596896"/>
            <a:ext cx="3703320" cy="621792"/>
          </a:xfrm>
          <a:prstGeom prst="roundRect">
            <a:avLst>
              <a:gd name="adj" fmla="val 7353"/>
            </a:avLst>
          </a:prstGeom>
          <a:solidFill>
            <a:srgbClr val="0F1A28"/>
          </a:solidFill>
          <a:ln w="6350">
            <a:solidFill>
              <a:srgbClr val="1E3A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63347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· Runtime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284378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/install from builder. Copy app files. Create non-root user. EXPOSE 8501. CMD startup.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3310128"/>
            <a:ext cx="3703320" cy="621792"/>
          </a:xfrm>
          <a:prstGeom prst="roundRect">
            <a:avLst>
              <a:gd name="adj" fmla="val 7353"/>
            </a:avLst>
          </a:prstGeom>
          <a:solidFill>
            <a:srgbClr val="0F1A28"/>
          </a:solidFill>
          <a:ln w="6350">
            <a:solidFill>
              <a:srgbClr val="1E3A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34670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4360" y="355701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YAML defines all services: Streamlit app, persistent volume, env vars, restart policy.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4023360"/>
            <a:ext cx="3703320" cy="621792"/>
          </a:xfrm>
          <a:prstGeom prst="roundRect">
            <a:avLst>
              <a:gd name="adj" fmla="val 7353"/>
            </a:avLst>
          </a:prstGeom>
          <a:solidFill>
            <a:srgbClr val="0F1A28"/>
          </a:solidFill>
          <a:ln w="6350">
            <a:solidFill>
              <a:srgbClr val="1E3A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405993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Volumes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4360" y="427024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uploaded PDFs, FAISS vector index, logs across container restarts.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0" y="1207008"/>
            <a:ext cx="4251960" cy="3657600"/>
          </a:xfrm>
          <a:prstGeom prst="roundRect">
            <a:avLst>
              <a:gd name="adj" fmla="val 2500"/>
            </a:avLst>
          </a:prstGeom>
          <a:solidFill>
            <a:srgbClr val="162232"/>
          </a:solidFill>
          <a:ln w="12700">
            <a:solidFill>
              <a:srgbClr val="1E3A5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709160" y="12984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Deployment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09160" y="158191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 / AKS / GKE  ·  Namespace: app  ·  Rolling updates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09160" y="1938528"/>
            <a:ext cx="256032" cy="256032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19202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 + ConfigMap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65776" y="21305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Isolates resources. Stores: chunk size, embedding model, log level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09160" y="2514600"/>
            <a:ext cx="256032" cy="256032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65776" y="249631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65776" y="270662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keys stored base64 encoded. Never in image or ConfigMap.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09160" y="3090672"/>
            <a:ext cx="256032" cy="256032"/>
          </a:xfrm>
          <a:prstGeom prst="ellipse">
            <a:avLst/>
          </a:prstGeom>
          <a:solidFill>
            <a:srgbClr val="9B8EC4"/>
          </a:solidFill>
          <a:ln w="12700">
            <a:solidFill>
              <a:srgbClr val="9B8EC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65776" y="307238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PVC (10Gi EBS)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065776" y="328269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ChromaDB/FAISS data survives pod restarts and redeployments.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09160" y="3666744"/>
            <a:ext cx="256032" cy="256032"/>
          </a:xfrm>
          <a:prstGeom prst="ellipse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65776" y="364845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(3 replicas)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065776" y="38587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RollingUpdate, maxUnavailable=0 — zero-downtime. Non-root UID.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09160" y="4242816"/>
            <a:ext cx="256032" cy="256032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65776" y="42245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HPA (min 2 → max 10)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065776" y="44348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on CPU ≥ 70% OR Memory ≥ 80% automatically.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04672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CI/CD Pipeline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 ·  Push to deploy  ·  ~3–5 minutes total runtime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2743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10896" y="1207008"/>
            <a:ext cx="1124712" cy="3474720"/>
          </a:xfrm>
          <a:prstGeom prst="roundRect">
            <a:avLst>
              <a:gd name="adj" fmla="val 6504"/>
            </a:avLst>
          </a:prstGeom>
          <a:solidFill>
            <a:srgbClr val="162232"/>
          </a:solidFill>
          <a:ln w="1905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02336" y="1298448"/>
            <a:ext cx="941832" cy="256032"/>
          </a:xfrm>
          <a:prstGeom prst="roundRect">
            <a:avLst>
              <a:gd name="adj" fmla="val 21429"/>
            </a:avLst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" y="1298448"/>
            <a:ext cx="941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74904" y="164592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 Push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84048" y="2157984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Git push to main branch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84048" y="254203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Triggers automated pipeline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84048" y="29260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Version-tagged release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527048" y="1207008"/>
            <a:ext cx="1124712" cy="3474720"/>
          </a:xfrm>
          <a:prstGeom prst="roundRect">
            <a:avLst>
              <a:gd name="adj" fmla="val 6504"/>
            </a:avLst>
          </a:prstGeom>
          <a:solidFill>
            <a:srgbClr val="162232"/>
          </a:solidFill>
          <a:ln w="19050">
            <a:solidFill>
              <a:srgbClr val="FFB347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618488" y="1298448"/>
            <a:ext cx="941832" cy="256032"/>
          </a:xfrm>
          <a:prstGeom prst="roundRect">
            <a:avLst>
              <a:gd name="adj" fmla="val 21429"/>
            </a:avLst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18488" y="1298448"/>
            <a:ext cx="941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591056" y="164592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Analysis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600200" y="2157984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Code formatting checks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600200" y="254203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Linting validation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600200" y="29260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Dependency audit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743200" y="1207008"/>
            <a:ext cx="1124712" cy="3474720"/>
          </a:xfrm>
          <a:prstGeom prst="roundRect">
            <a:avLst>
              <a:gd name="adj" fmla="val 6504"/>
            </a:avLst>
          </a:prstGeom>
          <a:solidFill>
            <a:srgbClr val="162232"/>
          </a:solidFill>
          <a:ln w="19050">
            <a:solidFill>
              <a:srgbClr val="9B8EC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834640" y="1298448"/>
            <a:ext cx="941832" cy="256032"/>
          </a:xfrm>
          <a:prstGeom prst="roundRect">
            <a:avLst>
              <a:gd name="adj" fmla="val 21429"/>
            </a:avLst>
          </a:prstGeom>
          <a:solidFill>
            <a:srgbClr val="9B8EC4"/>
          </a:solidFill>
          <a:ln w="12700">
            <a:solidFill>
              <a:srgbClr val="9B8EC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834640" y="1298448"/>
            <a:ext cx="941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807208" y="164592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Testing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816352" y="2157984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pytest test execution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816352" y="254203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Document processing tests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816352" y="29260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Embedding &amp; retrieval tests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959352" y="1207008"/>
            <a:ext cx="1124712" cy="3474720"/>
          </a:xfrm>
          <a:prstGeom prst="roundRect">
            <a:avLst>
              <a:gd name="adj" fmla="val 6504"/>
            </a:avLst>
          </a:prstGeom>
          <a:solidFill>
            <a:srgbClr val="162232"/>
          </a:solidFill>
          <a:ln w="19050">
            <a:solidFill>
              <a:srgbClr val="4A9E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050792" y="1298448"/>
            <a:ext cx="941832" cy="256032"/>
          </a:xfrm>
          <a:prstGeom prst="roundRect">
            <a:avLst>
              <a:gd name="adj" fmla="val 21429"/>
            </a:avLst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050792" y="1298448"/>
            <a:ext cx="941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023360" y="164592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Build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032504" y="2157984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Multi-stage image build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032504" y="254203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Version tag :sha + :latest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032504" y="29260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Image optimization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175504" y="1207008"/>
            <a:ext cx="1124712" cy="3474720"/>
          </a:xfrm>
          <a:prstGeom prst="roundRect">
            <a:avLst>
              <a:gd name="adj" fmla="val 6504"/>
            </a:avLst>
          </a:prstGeom>
          <a:solidFill>
            <a:srgbClr val="162232"/>
          </a:solidFill>
          <a:ln w="1905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266944" y="1298448"/>
            <a:ext cx="941832" cy="256032"/>
          </a:xfrm>
          <a:prstGeom prst="roundRect">
            <a:avLst>
              <a:gd name="adj" fmla="val 21429"/>
            </a:avLst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66944" y="1298448"/>
            <a:ext cx="941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5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239512" y="164592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 Registry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248656" y="2157984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Docker Hub / ECR / GHCR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248656" y="254203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Immutable versioned image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248656" y="29260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Available for deployment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391656" y="1207008"/>
            <a:ext cx="1124712" cy="3474720"/>
          </a:xfrm>
          <a:prstGeom prst="roundRect">
            <a:avLst>
              <a:gd name="adj" fmla="val 6504"/>
            </a:avLst>
          </a:prstGeom>
          <a:solidFill>
            <a:srgbClr val="162232"/>
          </a:solidFill>
          <a:ln w="19050">
            <a:solidFill>
              <a:srgbClr val="FFB347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483096" y="1298448"/>
            <a:ext cx="941832" cy="256032"/>
          </a:xfrm>
          <a:prstGeom prst="roundRect">
            <a:avLst>
              <a:gd name="adj" fmla="val 21429"/>
            </a:avLst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83096" y="1298448"/>
            <a:ext cx="941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6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455664" y="164592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Deploy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464808" y="2157984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kubectl apply rolling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464808" y="254203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Zero-downtime update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464808" y="29260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Rollout status wait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607808" y="1207008"/>
            <a:ext cx="1124712" cy="3474720"/>
          </a:xfrm>
          <a:prstGeom prst="roundRect">
            <a:avLst>
              <a:gd name="adj" fmla="val 6504"/>
            </a:avLst>
          </a:prstGeom>
          <a:solidFill>
            <a:srgbClr val="162232"/>
          </a:solidFill>
          <a:ln w="19050">
            <a:solidFill>
              <a:srgbClr val="9B8EC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7699248" y="1298448"/>
            <a:ext cx="941832" cy="256032"/>
          </a:xfrm>
          <a:prstGeom prst="roundRect">
            <a:avLst>
              <a:gd name="adj" fmla="val 21429"/>
            </a:avLst>
          </a:prstGeom>
          <a:solidFill>
            <a:srgbClr val="9B8EC4"/>
          </a:solidFill>
          <a:ln w="12700">
            <a:solidFill>
              <a:srgbClr val="9B8EC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699248" y="1298448"/>
            <a:ext cx="941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7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671816" y="164592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 Testing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7680960" y="2157984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App availability check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7680960" y="254203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API connectivity verify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7680960" y="29260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Confirm successful deploy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320040" y="4645152"/>
            <a:ext cx="8503920" cy="274320"/>
          </a:xfrm>
          <a:prstGeom prst="roundRect">
            <a:avLst>
              <a:gd name="adj" fmla="val 16667"/>
            </a:avLst>
          </a:prstGeom>
          <a:solidFill>
            <a:srgbClr val="162232"/>
          </a:solidFill>
          <a:ln w="6350">
            <a:solidFill>
              <a:srgbClr val="1E3A5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20040" y="464515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Secrets required: GOOGLE_API_KEY  ·  OPENAI_API_KEY  ·  AWS_ACCESS_KEY_ID  ·  AWS_SECRET_ACCESS_KEY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804672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&amp; Testing Strategy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Multi-layer protection and comprehensive test coverage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2743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207008"/>
            <a:ext cx="4023360" cy="594360"/>
          </a:xfrm>
          <a:prstGeom prst="roundRect">
            <a:avLst>
              <a:gd name="adj" fmla="val 10769"/>
            </a:avLst>
          </a:prstGeom>
          <a:solidFill>
            <a:srgbClr val="162232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44168"/>
            <a:ext cx="320040" cy="32004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26187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Security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96112" y="149961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keys via environment variables and Kubernetes Secrets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0040" y="1892808"/>
            <a:ext cx="4023360" cy="594360"/>
          </a:xfrm>
          <a:prstGeom prst="roundRect">
            <a:avLst>
              <a:gd name="adj" fmla="val 10769"/>
            </a:avLst>
          </a:prstGeom>
          <a:solidFill>
            <a:srgbClr val="162232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029968"/>
            <a:ext cx="320040" cy="32004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194767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Upload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96112" y="218541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Extension, size, empty file, and corrupted PDF checks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0040" y="2578608"/>
            <a:ext cx="4023360" cy="594360"/>
          </a:xfrm>
          <a:prstGeom prst="roundRect">
            <a:avLst>
              <a:gd name="adj" fmla="val 10769"/>
            </a:avLst>
          </a:prstGeom>
          <a:solidFill>
            <a:srgbClr val="162232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715768"/>
            <a:ext cx="320040" cy="320040"/>
          </a:xfrm>
          <a:prstGeom prst="ellipse">
            <a:avLst/>
          </a:prstGeom>
          <a:solidFill>
            <a:srgbClr val="9B8EC4"/>
          </a:solidFill>
          <a:ln w="12700">
            <a:solidFill>
              <a:srgbClr val="9B8E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263347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96112" y="287121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answers ONLY from retrieved document context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20040" y="3264408"/>
            <a:ext cx="4023360" cy="594360"/>
          </a:xfrm>
          <a:prstGeom prst="roundRect">
            <a:avLst>
              <a:gd name="adj" fmla="val 10769"/>
            </a:avLst>
          </a:prstGeom>
          <a:solidFill>
            <a:srgbClr val="162232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401568"/>
            <a:ext cx="320040" cy="320040"/>
          </a:xfrm>
          <a:prstGeom prst="ellipse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112" y="331927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Security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96112" y="355701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attack surface with regularly updated dependencies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20040" y="3950208"/>
            <a:ext cx="4023360" cy="594360"/>
          </a:xfrm>
          <a:prstGeom prst="roundRect">
            <a:avLst>
              <a:gd name="adj" fmla="val 10769"/>
            </a:avLst>
          </a:prstGeom>
          <a:solidFill>
            <a:srgbClr val="162232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4087368"/>
            <a:ext cx="320040" cy="32004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96112" y="400507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96112" y="424281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 and network policies enforced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617720" y="1207008"/>
            <a:ext cx="4206240" cy="3749040"/>
          </a:xfrm>
          <a:prstGeom prst="roundRect">
            <a:avLst>
              <a:gd name="adj" fmla="val 2439"/>
            </a:avLst>
          </a:prstGeom>
          <a:solidFill>
            <a:srgbClr val="162232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12984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Coverage Summary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754880" y="1664208"/>
            <a:ext cx="3931920" cy="530352"/>
          </a:xfrm>
          <a:prstGeom prst="roundRect">
            <a:avLst>
              <a:gd name="adj" fmla="val 8621"/>
            </a:avLst>
          </a:prstGeom>
          <a:solidFill>
            <a:srgbClr val="0F1A28"/>
          </a:solidFill>
          <a:ln w="6350">
            <a:solidFill>
              <a:srgbClr val="1E3A5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46320" y="1773936"/>
            <a:ext cx="292608" cy="29260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39512" y="170078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Testing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239512" y="193852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Parsing, Chunking, Embedding, FAISS Retrieval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754880" y="2286000"/>
            <a:ext cx="3931920" cy="530352"/>
          </a:xfrm>
          <a:prstGeom prst="roundRect">
            <a:avLst>
              <a:gd name="adj" fmla="val 8621"/>
            </a:avLst>
          </a:prstGeom>
          <a:solidFill>
            <a:srgbClr val="0F1A28"/>
          </a:solidFill>
          <a:ln w="6350">
            <a:solidFill>
              <a:srgbClr val="1E3A5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46320" y="2395728"/>
            <a:ext cx="292608" cy="292608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39512" y="232257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Testing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239512" y="256032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Streamlit-LangChain, LangChain-FAISS, FAISS-LLM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754880" y="2907792"/>
            <a:ext cx="3931920" cy="530352"/>
          </a:xfrm>
          <a:prstGeom prst="roundRect">
            <a:avLst>
              <a:gd name="adj" fmla="val 8621"/>
            </a:avLst>
          </a:prstGeom>
          <a:solidFill>
            <a:srgbClr val="0F1A28"/>
          </a:solidFill>
          <a:ln w="6350">
            <a:solidFill>
              <a:srgbClr val="1E3A5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46320" y="3017520"/>
            <a:ext cx="292608" cy="292608"/>
          </a:xfrm>
          <a:prstGeom prst="ellipse">
            <a:avLst/>
          </a:prstGeom>
          <a:solidFill>
            <a:srgbClr val="9B8EC4"/>
          </a:solidFill>
          <a:ln w="12700">
            <a:solidFill>
              <a:srgbClr val="9B8EC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39512" y="294436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Testing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239512" y="318211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Upload, Ask, Generate, Display end-to-end flow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754880" y="3529584"/>
            <a:ext cx="3931920" cy="530352"/>
          </a:xfrm>
          <a:prstGeom prst="roundRect">
            <a:avLst>
              <a:gd name="adj" fmla="val 8621"/>
            </a:avLst>
          </a:prstGeom>
          <a:solidFill>
            <a:srgbClr val="0F1A28"/>
          </a:solidFill>
          <a:ln w="6350">
            <a:solidFill>
              <a:srgbClr val="1E3A5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846320" y="3639312"/>
            <a:ext cx="292608" cy="292608"/>
          </a:xfrm>
          <a:prstGeom prst="ellipse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239512" y="356616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Testing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239512" y="380390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time, Memory usage, CPU load under load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754880" y="4151376"/>
            <a:ext cx="3931920" cy="530352"/>
          </a:xfrm>
          <a:prstGeom prst="roundRect">
            <a:avLst>
              <a:gd name="adj" fmla="val 8621"/>
            </a:avLst>
          </a:prstGeom>
          <a:solidFill>
            <a:srgbClr val="0F1A28"/>
          </a:solidFill>
          <a:ln w="6350">
            <a:solidFill>
              <a:srgbClr val="1E3A5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846320" y="4261104"/>
            <a:ext cx="292608" cy="29260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39512" y="418795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Acceptance Testing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239512" y="442569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Usability, Stability — real user scenarios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804672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Key Metrics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outputs from the deployed platform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2743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234440"/>
            <a:ext cx="1965960" cy="1325880"/>
          </a:xfrm>
          <a:prstGeom prst="roundRect">
            <a:avLst>
              <a:gd name="adj" fmla="val 6897"/>
            </a:avLst>
          </a:prstGeom>
          <a:solidFill>
            <a:srgbClr val="162232"/>
          </a:solidFill>
          <a:ln w="1905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88720" y="1325880"/>
            <a:ext cx="320040" cy="32004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7373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Gemini 2.5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216712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Model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57200" y="2350008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&amp; Pro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532888" y="1234440"/>
            <a:ext cx="1965960" cy="1325880"/>
          </a:xfrm>
          <a:prstGeom prst="roundRect">
            <a:avLst>
              <a:gd name="adj" fmla="val 6897"/>
            </a:avLst>
          </a:prstGeom>
          <a:solidFill>
            <a:srgbClr val="162232"/>
          </a:solidFill>
          <a:ln w="19050">
            <a:solidFill>
              <a:srgbClr val="FFB347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55848" y="1325880"/>
            <a:ext cx="320040" cy="32004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24328" y="17373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384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624328" y="216712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Dims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624328" y="2350008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MiniLM-L6-v2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700016" y="1234440"/>
            <a:ext cx="1965960" cy="1325880"/>
          </a:xfrm>
          <a:prstGeom prst="roundRect">
            <a:avLst>
              <a:gd name="adj" fmla="val 6897"/>
            </a:avLst>
          </a:prstGeom>
          <a:solidFill>
            <a:srgbClr val="162232"/>
          </a:solidFill>
          <a:ln w="19050">
            <a:solidFill>
              <a:srgbClr val="9B8EC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522976" y="1325880"/>
            <a:ext cx="320040" cy="320040"/>
          </a:xfrm>
          <a:prstGeom prst="ellipse">
            <a:avLst/>
          </a:prstGeom>
          <a:solidFill>
            <a:srgbClr val="9B8EC4"/>
          </a:solidFill>
          <a:ln w="12700">
            <a:solidFill>
              <a:srgbClr val="9B8EC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91456" y="17373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1000/200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791456" y="216712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9B8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Size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791456" y="2350008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chars / overlap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867144" y="1234440"/>
            <a:ext cx="1965960" cy="1325880"/>
          </a:xfrm>
          <a:prstGeom prst="roundRect">
            <a:avLst>
              <a:gd name="adj" fmla="val 6897"/>
            </a:avLst>
          </a:prstGeom>
          <a:solidFill>
            <a:srgbClr val="162232"/>
          </a:solidFill>
          <a:ln w="19050">
            <a:solidFill>
              <a:srgbClr val="4A9E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690104" y="1325880"/>
            <a:ext cx="320040" cy="320040"/>
          </a:xfrm>
          <a:prstGeom prst="ellipse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58584" y="17373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Top-5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958584" y="216712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K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958584" y="2350008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 per query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65760" y="2816352"/>
            <a:ext cx="1965960" cy="1325880"/>
          </a:xfrm>
          <a:prstGeom prst="roundRect">
            <a:avLst>
              <a:gd name="adj" fmla="val 6897"/>
            </a:avLst>
          </a:prstGeom>
          <a:solidFill>
            <a:srgbClr val="162232"/>
          </a:solidFill>
          <a:ln w="1905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188720" y="2907792"/>
            <a:ext cx="320040" cy="32004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31927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→ 10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457200" y="374904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HPA Scale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57200" y="3931920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 autoscale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532888" y="2816352"/>
            <a:ext cx="1965960" cy="1325880"/>
          </a:xfrm>
          <a:prstGeom prst="roundRect">
            <a:avLst>
              <a:gd name="adj" fmla="val 6897"/>
            </a:avLst>
          </a:prstGeom>
          <a:solidFill>
            <a:srgbClr val="162232"/>
          </a:solidFill>
          <a:ln w="19050">
            <a:solidFill>
              <a:srgbClr val="FFB347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355848" y="2907792"/>
            <a:ext cx="320040" cy="32004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624328" y="331927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 min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2624328" y="374904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Runtime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2624328" y="3931920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 deploy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700016" y="2816352"/>
            <a:ext cx="1965960" cy="1325880"/>
          </a:xfrm>
          <a:prstGeom prst="roundRect">
            <a:avLst>
              <a:gd name="adj" fmla="val 6897"/>
            </a:avLst>
          </a:prstGeom>
          <a:solidFill>
            <a:srgbClr val="162232"/>
          </a:solidFill>
          <a:ln w="19050">
            <a:solidFill>
              <a:srgbClr val="9B8EC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522976" y="2907792"/>
            <a:ext cx="320040" cy="320040"/>
          </a:xfrm>
          <a:prstGeom prst="ellipse">
            <a:avLst/>
          </a:prstGeom>
          <a:solidFill>
            <a:srgbClr val="9B8EC4"/>
          </a:solidFill>
          <a:ln w="12700">
            <a:solidFill>
              <a:srgbClr val="9B8EC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91456" y="331927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 + E2E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4791456" y="374904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9B8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Coverage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791456" y="3931920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test types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867144" y="2816352"/>
            <a:ext cx="1965960" cy="1325880"/>
          </a:xfrm>
          <a:prstGeom prst="roundRect">
            <a:avLst>
              <a:gd name="adj" fmla="val 6897"/>
            </a:avLst>
          </a:prstGeom>
          <a:solidFill>
            <a:srgbClr val="162232"/>
          </a:solidFill>
          <a:ln w="19050">
            <a:solidFill>
              <a:srgbClr val="4A9E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7690104" y="2907792"/>
            <a:ext cx="320040" cy="320040"/>
          </a:xfrm>
          <a:prstGeom prst="ellipse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958584" y="331927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70%+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6958584" y="374904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Reduction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6958584" y="3931920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search effort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320040" y="4498848"/>
            <a:ext cx="8503920" cy="411480"/>
          </a:xfrm>
          <a:prstGeom prst="roundRect">
            <a:avLst>
              <a:gd name="adj" fmla="val 13333"/>
            </a:avLst>
          </a:prstGeom>
          <a:solidFill>
            <a:srgbClr val="0F1A28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0040" y="4498848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Deliverables: ✅ Source Code  ✅ Streamlit App  ✅ Dockerfile  ✅ K8s Manifests (×6)  ✅ CI/CD Pipeline  ✅ Unit Tests  ✅ README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804672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20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Enhancements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extensions to the modular platform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2743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207008"/>
            <a:ext cx="2670048" cy="960120"/>
          </a:xfrm>
          <a:prstGeom prst="roundRect">
            <a:avLst>
              <a:gd name="adj" fmla="val 7619"/>
            </a:avLst>
          </a:prstGeom>
          <a:solidFill>
            <a:srgbClr val="162232"/>
          </a:solidFill>
          <a:ln w="12700">
            <a:solidFill>
              <a:srgbClr val="1E3A5A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29768" y="1316736"/>
            <a:ext cx="292608" cy="29260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3816" y="129844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Support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29768" y="164592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scanned and image-based PDFs using optical character recognition.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09544" y="1207008"/>
            <a:ext cx="2670048" cy="960120"/>
          </a:xfrm>
          <a:prstGeom prst="roundRect">
            <a:avLst>
              <a:gd name="adj" fmla="val 7619"/>
            </a:avLst>
          </a:prstGeom>
          <a:solidFill>
            <a:srgbClr val="162232"/>
          </a:solidFill>
          <a:ln w="12700">
            <a:solidFill>
              <a:srgbClr val="1E3A5A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19272" y="1316736"/>
            <a:ext cx="292608" cy="292608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03320" y="129844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Understanding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319272" y="164592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and interpret charts, diagrams, and tables from documents.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099048" y="1207008"/>
            <a:ext cx="2670048" cy="960120"/>
          </a:xfrm>
          <a:prstGeom prst="roundRect">
            <a:avLst>
              <a:gd name="adj" fmla="val 7619"/>
            </a:avLst>
          </a:prstGeom>
          <a:solidFill>
            <a:srgbClr val="162232"/>
          </a:solidFill>
          <a:ln w="12700">
            <a:solidFill>
              <a:srgbClr val="1E3A5A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08776" y="1316736"/>
            <a:ext cx="292608" cy="292608"/>
          </a:xfrm>
          <a:prstGeom prst="ellipse">
            <a:avLst/>
          </a:prstGeom>
          <a:solidFill>
            <a:srgbClr val="9B8EC4"/>
          </a:solidFill>
          <a:ln w="12700">
            <a:solidFill>
              <a:srgbClr val="9B8E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92824" y="129844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208776" y="164592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and retrieve content across multiple languages with multilingual embeddings.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20040" y="2258568"/>
            <a:ext cx="2670048" cy="960120"/>
          </a:xfrm>
          <a:prstGeom prst="roundRect">
            <a:avLst>
              <a:gd name="adj" fmla="val 7619"/>
            </a:avLst>
          </a:prstGeom>
          <a:solidFill>
            <a:srgbClr val="162232"/>
          </a:solidFill>
          <a:ln w="12700">
            <a:solidFill>
              <a:srgbClr val="1E3A5A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29768" y="2368296"/>
            <a:ext cx="292608" cy="292608"/>
          </a:xfrm>
          <a:prstGeom prst="ellipse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3816" y="235000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Search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29768" y="269748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voice-enabled natural language document queries.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209544" y="2258568"/>
            <a:ext cx="2670048" cy="960120"/>
          </a:xfrm>
          <a:prstGeom prst="roundRect">
            <a:avLst>
              <a:gd name="adj" fmla="val 7619"/>
            </a:avLst>
          </a:prstGeom>
          <a:solidFill>
            <a:srgbClr val="162232"/>
          </a:solidFill>
          <a:ln w="12700">
            <a:solidFill>
              <a:srgbClr val="1E3A5A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319272" y="2368296"/>
            <a:ext cx="292608" cy="29260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03320" y="235000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Authentication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319272" y="269748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login and role-based access control for multi-user environments.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099048" y="2258568"/>
            <a:ext cx="2670048" cy="960120"/>
          </a:xfrm>
          <a:prstGeom prst="roundRect">
            <a:avLst>
              <a:gd name="adj" fmla="val 7619"/>
            </a:avLst>
          </a:prstGeom>
          <a:solidFill>
            <a:srgbClr val="162232"/>
          </a:solidFill>
          <a:ln w="12700">
            <a:solidFill>
              <a:srgbClr val="1E3A5A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08776" y="2368296"/>
            <a:ext cx="292608" cy="292608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92824" y="235000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Vector DB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208776" y="269748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local FAISS with Pinecone, Weaviate, or Milvus for managed search.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20040" y="3310128"/>
            <a:ext cx="2670048" cy="960120"/>
          </a:xfrm>
          <a:prstGeom prst="roundRect">
            <a:avLst>
              <a:gd name="adj" fmla="val 7619"/>
            </a:avLst>
          </a:prstGeom>
          <a:solidFill>
            <a:srgbClr val="162232"/>
          </a:solidFill>
          <a:ln w="12700">
            <a:solidFill>
              <a:srgbClr val="1E3A5A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29768" y="3419856"/>
            <a:ext cx="292608" cy="292608"/>
          </a:xfrm>
          <a:prstGeom prst="ellipse">
            <a:avLst/>
          </a:prstGeom>
          <a:solidFill>
            <a:srgbClr val="9B8EC4"/>
          </a:solidFill>
          <a:ln w="12700">
            <a:solidFill>
              <a:srgbClr val="9B8EC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3816" y="340156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Search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29768" y="374904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dense vector search with BM25 keyword search for improved accuracy.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209544" y="3310128"/>
            <a:ext cx="2670048" cy="960120"/>
          </a:xfrm>
          <a:prstGeom prst="roundRect">
            <a:avLst>
              <a:gd name="adj" fmla="val 7619"/>
            </a:avLst>
          </a:prstGeom>
          <a:solidFill>
            <a:srgbClr val="162232"/>
          </a:solidFill>
          <a:ln w="12700">
            <a:solidFill>
              <a:srgbClr val="1E3A5A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319272" y="3419856"/>
            <a:ext cx="292608" cy="292608"/>
          </a:xfrm>
          <a:prstGeom prst="ellipse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703320" y="340156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Integration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3319272" y="374904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autonomous document agents for complex multi-step reasoning tasks.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099048" y="3310128"/>
            <a:ext cx="2670048" cy="960120"/>
          </a:xfrm>
          <a:prstGeom prst="roundRect">
            <a:avLst>
              <a:gd name="adj" fmla="val 7619"/>
            </a:avLst>
          </a:prstGeom>
          <a:solidFill>
            <a:srgbClr val="162232"/>
          </a:solidFill>
          <a:ln w="12700">
            <a:solidFill>
              <a:srgbClr val="1E3A5A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208776" y="3419856"/>
            <a:ext cx="292608" cy="29260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92824" y="340156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208776" y="374904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usage monitoring, query analytics, and performance metrics.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804672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20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2743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78992"/>
            <a:ext cx="8503920" cy="804672"/>
          </a:xfrm>
          <a:prstGeom prst="roundRect">
            <a:avLst>
              <a:gd name="adj" fmla="val 9091"/>
            </a:avLst>
          </a:prstGeom>
          <a:solidFill>
            <a:srgbClr val="162232"/>
          </a:solidFill>
          <a:ln w="12700">
            <a:solidFill>
              <a:srgbClr val="1E3A5A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61872"/>
            <a:ext cx="411480" cy="41148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618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7552" y="11704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RAG Pipeline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749040" y="1170432"/>
            <a:ext cx="4937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→ HuggingFace embeddings → FAISS → Google Gemini / OpenAI → grounded citations. Every component explicitly coded. Enterprise-ready from day one.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" y="2011680"/>
            <a:ext cx="8503920" cy="804672"/>
          </a:xfrm>
          <a:prstGeom prst="roundRect">
            <a:avLst>
              <a:gd name="adj" fmla="val 9091"/>
            </a:avLst>
          </a:prstGeom>
          <a:solidFill>
            <a:srgbClr val="162232"/>
          </a:solidFill>
          <a:ln w="12700">
            <a:solidFill>
              <a:srgbClr val="1E3A5A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194560"/>
            <a:ext cx="411480" cy="4114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194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87552" y="2103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Deployment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749040" y="2103120"/>
            <a:ext cx="4937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(EKS/AKS/GKE) · 3+ replicas · zero-downtime rolling updates · HPA 2→10 pods · 5-minute CI/CD pipeline triggered by git push.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2944368"/>
            <a:ext cx="8503920" cy="804672"/>
          </a:xfrm>
          <a:prstGeom prst="roundRect">
            <a:avLst>
              <a:gd name="adj" fmla="val 9091"/>
            </a:avLst>
          </a:prstGeom>
          <a:solidFill>
            <a:srgbClr val="162232"/>
          </a:solidFill>
          <a:ln w="12700">
            <a:solidFill>
              <a:srgbClr val="1E3A5A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127248"/>
            <a:ext cx="411480" cy="411480"/>
          </a:xfrm>
          <a:prstGeom prst="ellipse">
            <a:avLst/>
          </a:prstGeom>
          <a:solidFill>
            <a:srgbClr val="9B8EC4"/>
          </a:solidFill>
          <a:ln w="12700">
            <a:solidFill>
              <a:srgbClr val="9B8E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1272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87552" y="30358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&amp; Maintainable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749040" y="3035808"/>
            <a:ext cx="4937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separation of AI logic, UI, and deployment. Swap LLM, embedding model, or vector DB by changing one constant — architecture is not locked to any vendor.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3877056"/>
            <a:ext cx="8503920" cy="804672"/>
          </a:xfrm>
          <a:prstGeom prst="roundRect">
            <a:avLst>
              <a:gd name="adj" fmla="val 9091"/>
            </a:avLst>
          </a:prstGeom>
          <a:solidFill>
            <a:srgbClr val="162232"/>
          </a:solidFill>
          <a:ln w="12700">
            <a:solidFill>
              <a:srgbClr val="1E3A5A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4059936"/>
            <a:ext cx="411480" cy="411480"/>
          </a:xfrm>
          <a:prstGeom prst="ellipse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0599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87552" y="396849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Vendor-Neutral &amp; Scalable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749040" y="3968496"/>
            <a:ext cx="4937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/ Gemini / OpenAI LLMs  +  FAISS / Pinecone vector DB  +  Docker / Kubernetes = enterprise-grade RAG without budget lock-in.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57200" y="480060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 ·  LangChain  ·  FAISS  ·  HuggingFace  ·  Streamlit  ·  Docker  ·  Kubernetes  ·  Gemini  ·  OpenAI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04672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Enterprise RAG Document Intelligence Platform</dc:title>
  <dc:subject>PptxGenJS Presentation</dc:subject>
  <dc:creator>Manam Vengala Rao</dc:creator>
  <cp:lastModifiedBy>Manam Vengala Rao</cp:lastModifiedBy>
  <cp:revision>1</cp:revision>
  <dcterms:created xsi:type="dcterms:W3CDTF">2026-06-29T18:23:28Z</dcterms:created>
  <dcterms:modified xsi:type="dcterms:W3CDTF">2026-06-29T18:23:28Z</dcterms:modified>
</cp:coreProperties>
</file>