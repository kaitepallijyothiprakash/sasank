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presentation covers the complete FinVista Capital Financial Intelligence Assistant — an enterprise RAG application using Groq LLM, Gemini embeddings, and ChromaDB, deployed live on AWS 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vendor-neutral extensibility — evaluators appreciate that the architecture is not locked to one provider. Changing the LLM is one constant in rag_engine.py.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29260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GENAI DEVOPS TRAINING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FinVista Capital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365760" y="17190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4D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Intelligence Assistant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2514600"/>
            <a:ext cx="2029968" cy="749808"/>
          </a:xfrm>
          <a:prstGeom prst="roundRect">
            <a:avLst>
              <a:gd name="adj" fmla="val 9756"/>
            </a:avLst>
          </a:prstGeom>
          <a:solidFill>
            <a:srgbClr val="1E3448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251460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280720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 llama-3.3-70b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542032" y="2514600"/>
            <a:ext cx="2029968" cy="749808"/>
          </a:xfrm>
          <a:prstGeom prst="roundRect">
            <a:avLst>
              <a:gd name="adj" fmla="val 9756"/>
            </a:avLst>
          </a:prstGeom>
          <a:solidFill>
            <a:srgbClr val="1E3448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42032" y="251460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42032" y="280720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 embedding-001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18304" y="2514600"/>
            <a:ext cx="2029968" cy="749808"/>
          </a:xfrm>
          <a:prstGeom prst="roundRect">
            <a:avLst>
              <a:gd name="adj" fmla="val 9756"/>
            </a:avLst>
          </a:prstGeom>
          <a:solidFill>
            <a:srgbClr val="1E3448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18304" y="251460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18304" y="280720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 0.4.24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94576" y="2514600"/>
            <a:ext cx="2029968" cy="749808"/>
          </a:xfrm>
          <a:prstGeom prst="roundRect">
            <a:avLst>
              <a:gd name="adj" fmla="val 9756"/>
            </a:avLst>
          </a:prstGeom>
          <a:solidFill>
            <a:srgbClr val="1E3448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94576" y="2514600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94576" y="280720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EKS  eu-north-1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65760" y="345643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 ·  Docker  ·  Kubernetes  ·  GitHub Actions  ·  Python 3.11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Financial Intelligence Assistant  ·  20 Slides  ·  ~20 Minutes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4251960" cy="685800"/>
          </a:xfrm>
          <a:prstGeom prst="roundRect">
            <a:avLst>
              <a:gd name="adj" fmla="val 10667"/>
            </a:avLst>
          </a:prstGeom>
          <a:solidFill>
            <a:srgbClr val="1B2A3B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21208" y="1225296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2252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88136" y="1188720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8136" y="1481328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FinVista Capital needed this solution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1892808"/>
            <a:ext cx="4251960" cy="685800"/>
          </a:xfrm>
          <a:prstGeom prst="roundRect">
            <a:avLst>
              <a:gd name="adj" fmla="val 10667"/>
            </a:avLst>
          </a:prstGeom>
          <a:solidFill>
            <a:srgbClr val="1B2A3B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1208" y="2002536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002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8136" y="1965960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&amp; Stack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88136" y="2258568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chosen and why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670048"/>
            <a:ext cx="4251960" cy="685800"/>
          </a:xfrm>
          <a:prstGeom prst="roundRect">
            <a:avLst>
              <a:gd name="adj" fmla="val 10667"/>
            </a:avLst>
          </a:prstGeom>
          <a:solidFill>
            <a:srgbClr val="1B2A3B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1208" y="2779776"/>
            <a:ext cx="457200" cy="457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2779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88136" y="2743200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88136" y="3035808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pipeline + Query pipeline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447288"/>
            <a:ext cx="4251960" cy="685800"/>
          </a:xfrm>
          <a:prstGeom prst="roundRect">
            <a:avLst>
              <a:gd name="adj" fmla="val 10667"/>
            </a:avLst>
          </a:prstGeom>
          <a:solidFill>
            <a:srgbClr val="1B2A3B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21208" y="3557016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" y="3557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88136" y="3520440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Pipeline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88136" y="3813048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Chunk → Embed → ChromaDB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4224528"/>
            <a:ext cx="4251960" cy="685800"/>
          </a:xfrm>
          <a:prstGeom prst="roundRect">
            <a:avLst>
              <a:gd name="adj" fmla="val 10667"/>
            </a:avLst>
          </a:prstGeom>
          <a:solidFill>
            <a:srgbClr val="1B2A3B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21208" y="4334256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88136" y="4297680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Pipeline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88136" y="4590288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→ Search → Groq → Answer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1115568"/>
            <a:ext cx="4251960" cy="685800"/>
          </a:xfrm>
          <a:prstGeom prst="roundRect">
            <a:avLst>
              <a:gd name="adj" fmla="val 10667"/>
            </a:avLst>
          </a:prstGeom>
          <a:solidFill>
            <a:srgbClr val="1B2A3B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73168" y="1225296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12252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40096" y="1188720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Walkthrough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0096" y="1481328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rag_engine · streamlit_app · preload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1892808"/>
            <a:ext cx="4251960" cy="685800"/>
          </a:xfrm>
          <a:prstGeom prst="roundRect">
            <a:avLst>
              <a:gd name="adj" fmla="val 10667"/>
            </a:avLst>
          </a:prstGeom>
          <a:solidFill>
            <a:srgbClr val="1B2A3B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73168" y="2002536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73168" y="2002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40096" y="1965960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UI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40096" y="2258568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app running on AWS EKS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2670048"/>
            <a:ext cx="4251960" cy="685800"/>
          </a:xfrm>
          <a:prstGeom prst="roundRect">
            <a:avLst>
              <a:gd name="adj" fmla="val 10667"/>
            </a:avLst>
          </a:prstGeom>
          <a:solidFill>
            <a:srgbClr val="1B2A3B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73168" y="2779776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73168" y="2779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340096" y="2743200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Kubernetes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40096" y="3035808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Containerisation and EKS deployment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63440" y="3447288"/>
            <a:ext cx="4251960" cy="685800"/>
          </a:xfrm>
          <a:prstGeom prst="roundRect">
            <a:avLst>
              <a:gd name="adj" fmla="val 10667"/>
            </a:avLst>
          </a:prstGeom>
          <a:solidFill>
            <a:srgbClr val="1B2A3B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73168" y="3557016"/>
            <a:ext cx="457200" cy="457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73168" y="3557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340096" y="3520440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340096" y="3813048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3-job automation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63440" y="4224528"/>
            <a:ext cx="4251960" cy="685800"/>
          </a:xfrm>
          <a:prstGeom prst="roundRect">
            <a:avLst>
              <a:gd name="adj" fmla="val 10667"/>
            </a:avLst>
          </a:prstGeom>
          <a:solidFill>
            <a:srgbClr val="1B2A3B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73168" y="4334256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73168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340096" y="4297680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340096" y="4590288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unit tests + metrics + deliverables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FinVista Capital  —  Financial Consulting Organisation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1E3448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81328" y="1261872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3624" y="1335024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95681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Document Search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2523744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spent 2–4 hours per task searching PDFs before preparing any client deliverable.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73552" y="1078992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1E3448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43400" y="1261872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696" y="1335024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10712" y="195681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Silos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56432" y="2523744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locked in unstructured PDFs. No semantic search. Knowledge depended on personal familiarity.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135624" y="1078992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1E3448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205472" y="1261872"/>
            <a:ext cx="548640" cy="54864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7768" y="1335024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72784" y="195681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Risk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318504" y="2523744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policy versions referenced in reports. New employees took weeks to navigate the document library.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Target — Reduce manual document search effort by at least 70%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&amp; Technology Stack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chosen for capability, cost, and compatibility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4048" y="1060704"/>
            <a:ext cx="425196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85216" y="1371600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43560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152144"/>
            <a:ext cx="3310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88720" y="1389888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 llama-3.3-70b-versatile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88720" y="1700784"/>
            <a:ext cx="3310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· 1,000 req/day · No credit card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18888" y="1060704"/>
            <a:ext cx="425196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0056" y="1371600"/>
            <a:ext cx="475488" cy="475488"/>
          </a:xfrm>
          <a:prstGeom prst="ellipse">
            <a:avLst/>
          </a:prstGeom>
          <a:solidFill>
            <a:srgbClr val="4DD0C4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064" y="1435608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1152144"/>
            <a:ext cx="3310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4D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5623560" y="1389888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 gemini-embedding-001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623560" y="1700784"/>
            <a:ext cx="3310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· 3,072 dims · Asymmetric task_type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84048" y="2322576"/>
            <a:ext cx="425196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85216" y="2633472"/>
            <a:ext cx="475488" cy="475488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697480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88720" y="2414016"/>
            <a:ext cx="3310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188720" y="2651760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 0.4.24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188720" y="2962656"/>
            <a:ext cx="3310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persistent · cosine similarity · HNSW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818888" y="2322576"/>
            <a:ext cx="425196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020056" y="2633472"/>
            <a:ext cx="475488" cy="47548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064" y="2697480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623560" y="2414016"/>
            <a:ext cx="3310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Parser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5623560" y="2651760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 (fitz)  1.24.5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623560" y="2962656"/>
            <a:ext cx="3310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native extraction · page-level metadata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84048" y="3584448"/>
            <a:ext cx="425196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585216" y="3895344"/>
            <a:ext cx="475488" cy="475488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3959352"/>
            <a:ext cx="347472" cy="34747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188720" y="3675888"/>
            <a:ext cx="3310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850" dirty="0"/>
          </a:p>
        </p:txBody>
      </p:sp>
      <p:sp>
        <p:nvSpPr>
          <p:cNvPr id="33" name="Text 26"/>
          <p:cNvSpPr/>
          <p:nvPr/>
        </p:nvSpPr>
        <p:spPr>
          <a:xfrm>
            <a:off x="1188720" y="3913632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 1.35.0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1188720" y="4224528"/>
            <a:ext cx="3310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· History · Help tabs · Sidebar config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4818888" y="3584448"/>
            <a:ext cx="425196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5020056" y="3895344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4064" y="3959352"/>
            <a:ext cx="347472" cy="34747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623560" y="3675888"/>
            <a:ext cx="3310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50" dirty="0"/>
          </a:p>
        </p:txBody>
      </p:sp>
      <p:sp>
        <p:nvSpPr>
          <p:cNvPr id="39" name="Text 31"/>
          <p:cNvSpPr/>
          <p:nvPr/>
        </p:nvSpPr>
        <p:spPr>
          <a:xfrm>
            <a:off x="5623560" y="3913632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 +  AWS EKS  eu-north-1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5623560" y="4224528"/>
            <a:ext cx="3310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replicas · HPA 2→10 · GitHub Actions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pipelines share one ChromaDB vector store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84048" y="969264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 PIPELINE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73168" y="969264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 PIPELINE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749808" cy="1005840"/>
          </a:xfrm>
          <a:prstGeom prst="roundRect">
            <a:avLst>
              <a:gd name="adj" fmla="val 8537"/>
            </a:avLst>
          </a:prstGeom>
          <a:solidFill>
            <a:srgbClr val="1E3448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316736"/>
            <a:ext cx="749808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097280" y="1298448"/>
            <a:ext cx="749808" cy="1005840"/>
          </a:xfrm>
          <a:prstGeom prst="roundRect">
            <a:avLst>
              <a:gd name="adj" fmla="val 8537"/>
            </a:avLst>
          </a:prstGeom>
          <a:solidFill>
            <a:srgbClr val="1E3448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1316736"/>
            <a:ext cx="749808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(PyMuPDF)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920240" y="1298448"/>
            <a:ext cx="749808" cy="1005840"/>
          </a:xfrm>
          <a:prstGeom prst="roundRect">
            <a:avLst>
              <a:gd name="adj" fmla="val 8537"/>
            </a:avLst>
          </a:prstGeom>
          <a:solidFill>
            <a:srgbClr val="1E3448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920240" y="1316736"/>
            <a:ext cx="749808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Chunk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1000/200 tok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743200" y="1298448"/>
            <a:ext cx="749808" cy="1005840"/>
          </a:xfrm>
          <a:prstGeom prst="roundRect">
            <a:avLst>
              <a:gd name="adj" fmla="val 8537"/>
            </a:avLst>
          </a:prstGeom>
          <a:solidFill>
            <a:srgbClr val="1E3448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0" y="1316736"/>
            <a:ext cx="749808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Embed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task_type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566160" y="1298448"/>
            <a:ext cx="749808" cy="1005840"/>
          </a:xfrm>
          <a:prstGeom prst="roundRect">
            <a:avLst>
              <a:gd name="adj" fmla="val 8537"/>
            </a:avLst>
          </a:prstGeom>
          <a:solidFill>
            <a:srgbClr val="1E3448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66160" y="1316736"/>
            <a:ext cx="749808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 MD5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53712" y="1298448"/>
            <a:ext cx="722376" cy="1005840"/>
          </a:xfrm>
          <a:prstGeom prst="roundRect">
            <a:avLst>
              <a:gd name="adj" fmla="val 8861"/>
            </a:avLst>
          </a:prstGeom>
          <a:solidFill>
            <a:srgbClr val="162814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53712" y="1316736"/>
            <a:ext cx="722376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349240" y="1298448"/>
            <a:ext cx="722376" cy="1005840"/>
          </a:xfrm>
          <a:prstGeom prst="roundRect">
            <a:avLst>
              <a:gd name="adj" fmla="val 8861"/>
            </a:avLst>
          </a:prstGeom>
          <a:solidFill>
            <a:srgbClr val="162814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49240" y="1316736"/>
            <a:ext cx="722376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Embed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type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144768" y="1298448"/>
            <a:ext cx="722376" cy="1005840"/>
          </a:xfrm>
          <a:prstGeom prst="roundRect">
            <a:avLst>
              <a:gd name="adj" fmla="val 8861"/>
            </a:avLst>
          </a:prstGeom>
          <a:solidFill>
            <a:srgbClr val="162814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144768" y="1316736"/>
            <a:ext cx="722376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Search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940296" y="1298448"/>
            <a:ext cx="722376" cy="1005840"/>
          </a:xfrm>
          <a:prstGeom prst="roundRect">
            <a:avLst>
              <a:gd name="adj" fmla="val 8861"/>
            </a:avLst>
          </a:prstGeom>
          <a:solidFill>
            <a:srgbClr val="162814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940296" y="1316736"/>
            <a:ext cx="722376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735824" y="1298448"/>
            <a:ext cx="722376" cy="1005840"/>
          </a:xfrm>
          <a:prstGeom prst="roundRect">
            <a:avLst>
              <a:gd name="adj" fmla="val 8861"/>
            </a:avLst>
          </a:prstGeom>
          <a:solidFill>
            <a:srgbClr val="162814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735824" y="1316736"/>
            <a:ext cx="722376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8531352" y="1298448"/>
            <a:ext cx="722376" cy="1005840"/>
          </a:xfrm>
          <a:prstGeom prst="roundRect">
            <a:avLst>
              <a:gd name="adj" fmla="val 8861"/>
            </a:avLst>
          </a:prstGeom>
          <a:solidFill>
            <a:srgbClr val="162814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531352" y="1316736"/>
            <a:ext cx="722376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547872" y="2487168"/>
            <a:ext cx="2029968" cy="585216"/>
          </a:xfrm>
          <a:prstGeom prst="roundRect">
            <a:avLst>
              <a:gd name="adj" fmla="val 12500"/>
            </a:avLst>
          </a:prstGeom>
          <a:solidFill>
            <a:srgbClr val="2D1B69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547872" y="2487168"/>
            <a:ext cx="202996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 Vector Store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84048" y="3236976"/>
            <a:ext cx="8366760" cy="1645920"/>
          </a:xfrm>
          <a:prstGeom prst="roundRect">
            <a:avLst>
              <a:gd name="adj" fmla="val 5556"/>
            </a:avLst>
          </a:prstGeom>
          <a:solidFill>
            <a:srgbClr val="1E3448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40080" y="332841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0080" y="367588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MD5 chunk IDs  →  idempotent col.upsert()  —  safe to re-upload the same PDF at any time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" y="395020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Asymmetric task_type  →  RETRIEVAL_DOCUMENT (ingestion)  +  RETRIEVAL_QUERY (search)  —  measurably better recall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0080" y="422452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Similarity score  =  1 − cosine_distance  —  transparent confidence % shown in citation expander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0080" y="449884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Conversation window  history[-6:]  —  multi-turn coherence without exceeding Groq's context limit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 Pipeline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  →  Parse  →  Chunk  →  Embed  →  Index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1572768" cy="3730752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261872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261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883664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39572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File uploaded via Streamlit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Written to tempfile on disk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45643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Tracked in session_state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98678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Prevents duplicate indexing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066544" y="1115568"/>
            <a:ext cx="1572768" cy="3730752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15184" y="1261872"/>
            <a:ext cx="475488" cy="47548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2615184" y="1261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57984" y="1883664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176272" y="239572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fitz.open() — PyMuPDF 1.24.5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76272" y="292608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page.get_text('text')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76272" y="345643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Empty pages are skipped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176272" y="398678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Returns text + page number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785616" y="1115568"/>
            <a:ext cx="1572768" cy="3730752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34256" y="1261872"/>
            <a:ext cx="475488" cy="47548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4334256" y="1261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877056" y="1883664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Chunking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895344" y="239572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RecursiveCharacterTextSplitter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895344" y="292608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chunk_size = 1,000 tokens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895344" y="345643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chunk_overlap = 200 tokens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895344" y="398678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Separators: \n\n · \n · . · space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504688" y="1115568"/>
            <a:ext cx="1572768" cy="3730752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53328" y="1261872"/>
            <a:ext cx="475488" cy="47548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7" name="Text 35"/>
          <p:cNvSpPr/>
          <p:nvPr/>
        </p:nvSpPr>
        <p:spPr>
          <a:xfrm>
            <a:off x="6053328" y="1261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596128" y="1883664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Embed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614416" y="239572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Batches of 100 chunks per call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614416" y="292608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task_type = RETRIEVAL_DOCUMENT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614416" y="345643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Returns 3,072-dim float vectors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614416" y="398678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Asymmetric pairing for better recall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223760" y="1115568"/>
            <a:ext cx="1572768" cy="3730752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772400" y="1261872"/>
            <a:ext cx="475488" cy="47548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7" name="Text 45"/>
          <p:cNvSpPr/>
          <p:nvPr/>
        </p:nvSpPr>
        <p:spPr>
          <a:xfrm>
            <a:off x="7772400" y="1261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315200" y="1883664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Upsert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7333488" y="239572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ID = MD5(source + page + chunk)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333488" y="292608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col.upsert() — idempotent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333488" y="345643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Re-upload is always safe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333488" y="398678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Stores: source, page, chunk_index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84048" y="4754880"/>
            <a:ext cx="8366760" cy="22860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4773168"/>
            <a:ext cx="80467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preload.py  —  auto-indexes 5 bundled PDFs on pod startup if ChromaDB is empty and API keys are set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Pipeline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  →  Embed  →  Search  →  Prompt  →  Groq LLM  →  Answer + Citations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316736" cy="3328416"/>
          </a:xfrm>
          <a:prstGeom prst="roundRect">
            <a:avLst>
              <a:gd name="adj" fmla="val 6944"/>
            </a:avLst>
          </a:prstGeom>
          <a:solidFill>
            <a:srgbClr val="1E3448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94944" y="1335024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13350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1938528"/>
            <a:ext cx="11704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505456"/>
            <a:ext cx="1143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Embed the question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3035808"/>
            <a:ext cx="1143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task_type = RETRIEVAL_QUERY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3566160"/>
            <a:ext cx="1143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3,072-dim query vector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719072" y="1188720"/>
            <a:ext cx="1316736" cy="3328416"/>
          </a:xfrm>
          <a:prstGeom prst="roundRect">
            <a:avLst>
              <a:gd name="adj" fmla="val 6944"/>
            </a:avLst>
          </a:prstGeom>
          <a:solidFill>
            <a:srgbClr val="1E3448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39696" y="1335024"/>
            <a:ext cx="475488" cy="47548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2139696" y="13350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792224" y="1938528"/>
            <a:ext cx="11704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10512" y="2505456"/>
            <a:ext cx="1143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Vector sent to col.query()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3035808"/>
            <a:ext cx="1143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hnsw:space = 'cosine'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810512" y="3566160"/>
            <a:ext cx="1143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Returns Top-5 chunks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163824" y="1188720"/>
            <a:ext cx="1316736" cy="3328416"/>
          </a:xfrm>
          <a:prstGeom prst="roundRect">
            <a:avLst>
              <a:gd name="adj" fmla="val 6944"/>
            </a:avLst>
          </a:prstGeom>
          <a:solidFill>
            <a:srgbClr val="1E3448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584448" y="1335024"/>
            <a:ext cx="475488" cy="475488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3584448" y="13350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36976" y="1938528"/>
            <a:ext cx="11704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55264" y="2505456"/>
            <a:ext cx="1143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Each result wrapped as dict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55264" y="3035808"/>
            <a:ext cx="1143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Fields: text, source, page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55264" y="3566160"/>
            <a:ext cx="1143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similarity = 1 − dist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08576" y="1188720"/>
            <a:ext cx="1316736" cy="3328416"/>
          </a:xfrm>
          <a:prstGeom prst="roundRect">
            <a:avLst>
              <a:gd name="adj" fmla="val 6944"/>
            </a:avLst>
          </a:prstGeom>
          <a:solidFill>
            <a:srgbClr val="1E3448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29200" y="1335024"/>
            <a:ext cx="475488" cy="47548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0" y="13350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681728" y="1938528"/>
            <a:ext cx="11704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00016" y="2505456"/>
            <a:ext cx="1143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System instruction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00016" y="3035808"/>
            <a:ext cx="1143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history[-6:] turns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00016" y="3566160"/>
            <a:ext cx="1143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Context block (5 chunks)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053328" y="1188720"/>
            <a:ext cx="1316736" cy="3328416"/>
          </a:xfrm>
          <a:prstGeom prst="roundRect">
            <a:avLst>
              <a:gd name="adj" fmla="val 6944"/>
            </a:avLst>
          </a:prstGeom>
          <a:solidFill>
            <a:srgbClr val="1E3448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73952" y="1335024"/>
            <a:ext cx="475488" cy="47548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3" name="Text 41"/>
          <p:cNvSpPr/>
          <p:nvPr/>
        </p:nvSpPr>
        <p:spPr>
          <a:xfrm>
            <a:off x="6473952" y="13350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126480" y="1938528"/>
            <a:ext cx="11704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144768" y="2505456"/>
            <a:ext cx="1143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llama-3.3-70b-versatile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144768" y="3035808"/>
            <a:ext cx="1143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max_tokens = 1,024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144768" y="3566160"/>
            <a:ext cx="1143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temperature = 0.1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498080" y="1188720"/>
            <a:ext cx="1316736" cy="3328416"/>
          </a:xfrm>
          <a:prstGeom prst="roundRect">
            <a:avLst>
              <a:gd name="adj" fmla="val 6944"/>
            </a:avLst>
          </a:prstGeom>
          <a:solidFill>
            <a:srgbClr val="1E3448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918704" y="1335024"/>
            <a:ext cx="475488" cy="475488"/>
          </a:xfrm>
          <a:prstGeom prst="ellipse">
            <a:avLst/>
          </a:prstGeom>
          <a:solidFill>
            <a:srgbClr val="4DD0C4"/>
          </a:solidFill>
          <a:ln/>
        </p:spPr>
      </p:sp>
      <p:sp>
        <p:nvSpPr>
          <p:cNvPr id="52" name="Text 50"/>
          <p:cNvSpPr/>
          <p:nvPr/>
        </p:nvSpPr>
        <p:spPr>
          <a:xfrm>
            <a:off x="7918704" y="13350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7571232" y="1938528"/>
            <a:ext cx="11704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589520" y="2505456"/>
            <a:ext cx="1143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Stored in session_state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589520" y="3035808"/>
            <a:ext cx="1143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st.rerun() refreshes UI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589520" y="3566160"/>
            <a:ext cx="1143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Citation expander shown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84048" y="4681728"/>
            <a:ext cx="8366760" cy="274320"/>
          </a:xfrm>
          <a:prstGeom prst="roundRect">
            <a:avLst>
              <a:gd name="adj" fmla="val 20000"/>
            </a:avLst>
          </a:prstGeom>
          <a:solidFill>
            <a:srgbClr val="1E3448"/>
          </a:solidFill>
          <a:ln/>
        </p:spPr>
      </p:sp>
      <p:sp>
        <p:nvSpPr>
          <p:cNvPr id="59" name="Text 57"/>
          <p:cNvSpPr/>
          <p:nvPr/>
        </p:nvSpPr>
        <p:spPr>
          <a:xfrm>
            <a:off x="548640" y="4700016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0.1  ·  System prompt: "Answer using ONLY the provided context. If not found, say so clearly — do not guess."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Codebase Walkthrough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 of AI logic, UI, and startup orchestration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3913632" cy="38862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188720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Structure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6093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finvista-assistant/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88366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app/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15798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rag_engine.py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43230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streamlit_app.py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7066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preload.py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9809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startup.sh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25526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.streamlit/config.toml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352958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data/  (5 PDFs)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380390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k8s/  (6 YAML manifests)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40782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tests/test_rag_engine.py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43525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.github/workflows/ci-cd.yml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462686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Dockerfile  ·  requirements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62272" y="1078992"/>
            <a:ext cx="4315968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74336" y="1170432"/>
            <a:ext cx="3675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rag_engine.py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74336" y="1463040"/>
            <a:ext cx="3675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AI logic — PDF parsing, chunking, Gemini embeddings, ChromaDB upsert + search, prompt construction, Groq LLM call.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74336" y="1828800"/>
            <a:ext cx="3675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UI imports. Lazy clients — API keys read at call time, not import. Idempotent indexing via MD5 IDs.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62272" y="2395728"/>
            <a:ext cx="4315968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74336" y="2487168"/>
            <a:ext cx="3675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streamlit_app.py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74336" y="2779776"/>
            <a:ext cx="3675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UI — sidebar (API keys, file upload, KB stats), Chat tab, History tab, Help tab, citation expander.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74336" y="3145536"/>
            <a:ext cx="3675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state: conversation_history + processed_files. Citation shows filename, page, similarity %.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62272" y="3712464"/>
            <a:ext cx="4315968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974336" y="3803904"/>
            <a:ext cx="3675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preload.py  +  startup.sh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74336" y="4096512"/>
            <a:ext cx="3675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orchestration — preload.py indexes 5 bundled PDFs if ChromaDB is empty and API keys are set.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974336" y="4462272"/>
            <a:ext cx="36758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startup.sh runs preload.py first, then hands off to Streamlit via exec (no forked process).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Application — Running on AWS EKS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ab4f03a445ee9444386f5ec165177290-1777771950.eu-north-1.elb.amazonaws.com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15568"/>
            <a:ext cx="841248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4048" y="4736592"/>
            <a:ext cx="8366760" cy="237744"/>
          </a:xfrm>
          <a:prstGeom prst="roundRect">
            <a:avLst>
              <a:gd name="adj" fmla="val 23077"/>
            </a:avLst>
          </a:prstGeom>
          <a:solidFill>
            <a:srgbClr val="1E3448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475488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Documents indexed  ·  64 Chunks in ChromaDB  ·  Both API keys active  ·  Knowledge base ready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&amp; Containerisation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  ·  python:3.11-slim  ·  Non-root user UID 1000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4048" y="1115568"/>
            <a:ext cx="4041648" cy="3401568"/>
          </a:xfrm>
          <a:prstGeom prst="roundRect">
            <a:avLst>
              <a:gd name="adj" fmla="val 2688"/>
            </a:avLst>
          </a:prstGeom>
          <a:solidFill>
            <a:srgbClr val="111827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 ·  Builder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6459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python:3.11-slim AS builder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/build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1945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compiler tools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4688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apt-get install -y \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7432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build-essential gcc ...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30175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requirements.txt 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32918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pip install \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35661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--no-cache-dir \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38404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--prefix=/install \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41148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-r requirements.txt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9160" y="1115568"/>
            <a:ext cx="4041648" cy="3401568"/>
          </a:xfrm>
          <a:prstGeom prst="roundRect">
            <a:avLst>
              <a:gd name="adj" fmla="val 2688"/>
            </a:avLst>
          </a:prstGeom>
          <a:solidFill>
            <a:srgbClr val="111827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19472" y="12252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 ·  Runtime  (ships to production)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19472" y="16459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python:3.11-slim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19472" y="1920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Runtime libs only — no compiler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19472" y="21945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--from=builder \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19472" y="24688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/install /usr/local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19472" y="27432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app/ ./app/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19472" y="30175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Drop to non-root user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19472" y="32918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useradd -m -u 1000 finvista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19472" y="35661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finvista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19472" y="38404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 8501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19472" y="41148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["bash", "startup.sh"]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84048" y="4663440"/>
            <a:ext cx="2724912" cy="27432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468172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3.11?  —  ChromaDB 0.4.24 breaks on Python 3.12+. Pinned in Dockerfile and requirements.txt.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82696" y="4663440"/>
            <a:ext cx="2724912" cy="27432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74136" y="468172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Non-root?  —  UID 1000 — principle of least privilege. Required for CIS/PCI compliance.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81344" y="4663440"/>
            <a:ext cx="2724912" cy="27432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72784" y="468172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pins?  —  Without pins, pip backtracks 12+ minutes. Pinned versions = ~90 sec install.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 Deployment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EKS  eu-north-1  ·  Namespace: finvista  ·  Cluster: finvista-cluster  ·  2 × t3.medium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4048" y="1234440"/>
            <a:ext cx="2724912" cy="1627632"/>
          </a:xfrm>
          <a:prstGeom prst="roundRect">
            <a:avLst>
              <a:gd name="adj" fmla="val 5618"/>
            </a:avLst>
          </a:prstGeom>
          <a:solidFill>
            <a:srgbClr val="1E3448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1208" y="1801368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" y="18013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2416" y="1344168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ConfigMap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42416" y="1837944"/>
            <a:ext cx="19385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'finvista' namespace.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ConfigMap: CHROMA_DB_PATH,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upload 200MB, LOG_LEVEL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82696" y="1234440"/>
            <a:ext cx="2724912" cy="1627632"/>
          </a:xfrm>
          <a:prstGeom prst="roundRect">
            <a:avLst>
              <a:gd name="adj" fmla="val 5618"/>
            </a:avLst>
          </a:prstGeom>
          <a:solidFill>
            <a:srgbClr val="1E3448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19856" y="1801368"/>
            <a:ext cx="420624" cy="42062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3419856" y="18013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41064" y="1344168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941064" y="1837944"/>
            <a:ext cx="19385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GEMINI_API_KEY + GROQ_API_KEY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base64 encoded.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 image or ConfigMap.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81344" y="1234440"/>
            <a:ext cx="2724912" cy="1627632"/>
          </a:xfrm>
          <a:prstGeom prst="roundRect">
            <a:avLst>
              <a:gd name="adj" fmla="val 5618"/>
            </a:avLst>
          </a:prstGeom>
          <a:solidFill>
            <a:srgbClr val="1E3448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18504" y="1801368"/>
            <a:ext cx="420624" cy="42062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318504" y="18013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39712" y="1344168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39712" y="1837944"/>
            <a:ext cx="19385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10Gi gp2 EBS volume.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data survives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restarts and redeployments.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4048" y="3044952"/>
            <a:ext cx="2724912" cy="1627632"/>
          </a:xfrm>
          <a:prstGeom prst="roundRect">
            <a:avLst>
              <a:gd name="adj" fmla="val 5618"/>
            </a:avLst>
          </a:prstGeom>
          <a:solidFill>
            <a:srgbClr val="1E3448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1208" y="3611880"/>
            <a:ext cx="420624" cy="42062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521208" y="36118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42416" y="3154680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42416" y="3648456"/>
            <a:ext cx="19385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replicas. RollingUpdate.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maxUnavailable=0 (zero downtime).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UID 1000. Limits set.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82696" y="3044952"/>
            <a:ext cx="2724912" cy="1627632"/>
          </a:xfrm>
          <a:prstGeom prst="roundRect">
            <a:avLst>
              <a:gd name="adj" fmla="val 5618"/>
            </a:avLst>
          </a:prstGeom>
          <a:solidFill>
            <a:srgbClr val="1E3448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19856" y="3611880"/>
            <a:ext cx="420624" cy="42062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3419856" y="36118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41064" y="3154680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941064" y="3648456"/>
            <a:ext cx="19385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LoadBalancer port 80→8501.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annotation: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timeout = 600 seconds.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81344" y="3044952"/>
            <a:ext cx="2724912" cy="1627632"/>
          </a:xfrm>
          <a:prstGeom prst="roundRect">
            <a:avLst>
              <a:gd name="adj" fmla="val 5618"/>
            </a:avLst>
          </a:prstGeom>
          <a:solidFill>
            <a:srgbClr val="1E3448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18504" y="3611880"/>
            <a:ext cx="420624" cy="420624"/>
          </a:xfrm>
          <a:prstGeom prst="ellipse">
            <a:avLst/>
          </a:prstGeom>
          <a:solidFill>
            <a:srgbClr val="4DD0C4"/>
          </a:solidFill>
          <a:ln/>
        </p:spPr>
      </p:sp>
      <p:sp>
        <p:nvSpPr>
          <p:cNvPr id="32" name="Text 30"/>
          <p:cNvSpPr/>
          <p:nvPr/>
        </p:nvSpPr>
        <p:spPr>
          <a:xfrm>
            <a:off x="6318504" y="36118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39712" y="3154680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839712" y="3648456"/>
            <a:ext cx="19385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minReplicas=2 → maxReplicas=10.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 CPU ≥ 70%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 Memory ≥ 80%.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Pipeline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 ·  3 sequential jobs  ·  Triggered on push to main  ·  Total runtime ~3 minutes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2724912" cy="3730752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078992"/>
            <a:ext cx="2724912" cy="621792"/>
          </a:xfrm>
          <a:prstGeom prst="roundRect">
            <a:avLst>
              <a:gd name="adj" fmla="val 14706"/>
            </a:avLst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371600"/>
            <a:ext cx="2724912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97280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1  ·  ~40 sec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1353312"/>
            <a:ext cx="2724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Tests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24323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actions/checkout@v4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304288"/>
            <a:ext cx="24323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setup-python@v5  (3.11)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779776"/>
            <a:ext cx="24323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pip install + pytest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255264"/>
            <a:ext cx="24323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pytest tests/ -v --cov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730752"/>
            <a:ext cx="24323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12 tests — all mocked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206240"/>
            <a:ext cx="24323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Triggers Job 2 on pass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82696" y="1078992"/>
            <a:ext cx="2724912" cy="3730752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82696" y="1078992"/>
            <a:ext cx="2724912" cy="621792"/>
          </a:xfrm>
          <a:prstGeom prst="roundRect">
            <a:avLst>
              <a:gd name="adj" fmla="val 14706"/>
            </a:avLst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82696" y="1371600"/>
            <a:ext cx="2724912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82696" y="1097280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2  ·  ~107 sec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82696" y="1353312"/>
            <a:ext cx="2724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&amp; Push ECR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47288" y="1828800"/>
            <a:ext cx="24323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configure-aws-credentials@v4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47288" y="2304288"/>
            <a:ext cx="24323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amazon-ecr-login@v2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47288" y="2779776"/>
            <a:ext cx="24323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docker/build-push-action@v5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47288" y="3255264"/>
            <a:ext cx="24323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Tag: :{github.sha} + :latest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47288" y="3730752"/>
            <a:ext cx="24323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Pushes to ECR registry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47288" y="4206240"/>
            <a:ext cx="24323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Only runs on push to main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81344" y="1078992"/>
            <a:ext cx="2724912" cy="3730752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81344" y="1078992"/>
            <a:ext cx="2724912" cy="621792"/>
          </a:xfrm>
          <a:prstGeom prst="roundRect">
            <a:avLst>
              <a:gd name="adj" fmla="val 14706"/>
            </a:avLst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81344" y="1371600"/>
            <a:ext cx="2724912" cy="329184"/>
          </a:xfrm>
          <a:prstGeom prst="rect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81344" y="1097280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3  ·  ~31 sec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81344" y="1353312"/>
            <a:ext cx="2724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to EKS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45936" y="1828800"/>
            <a:ext cx="24323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aws eks update-kubeconfig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45936" y="2304288"/>
            <a:ext cx="24323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kubectl apply k8s/ 01,02,05,06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45936" y="2779776"/>
            <a:ext cx="24323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sed replaces image tag in 04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45936" y="3255264"/>
            <a:ext cx="24323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kubectl apply patched deploy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45936" y="3730752"/>
            <a:ext cx="24323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kubectl rollout status 300s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45936" y="4206240"/>
            <a:ext cx="24323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Print final pod + service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84048" y="4754880"/>
            <a:ext cx="8366760" cy="237744"/>
          </a:xfrm>
          <a:prstGeom prst="roundRect">
            <a:avLst>
              <a:gd name="adj" fmla="val 19231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77316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Secrets required:  GEMINI_API_KEY  ·  GROQ_API_KEY  ·  AWS_ACCESS_KEY_ID  ·  AWS_SECRET_ACCESS_KEY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Strategy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unit tests  ·  All external services mocked  ·  Zero API calls  ·  Runs in &lt; 5 seconds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6676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Name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529584" y="107899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0" y="1078992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Verifies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048" y="1408176"/>
            <a:ext cx="8366760" cy="329184"/>
          </a:xfrm>
          <a:prstGeom prst="rect">
            <a:avLst/>
          </a:prstGeom>
          <a:solidFill>
            <a:srgbClr val="1E34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42646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chunk_pages returns list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29584" y="142646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chunk_pages()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0" y="142646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a list with ≥ input page count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" y="1737360"/>
            <a:ext cx="8366760" cy="329184"/>
          </a:xfrm>
          <a:prstGeom prst="rect">
            <a:avLst/>
          </a:prstGeom>
          <a:solidFill>
            <a:srgbClr val="162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7556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chunk_pages required keys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29584" y="17556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chunk_pages()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0" y="175564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chunk has: text, source, page, chunk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" y="2066544"/>
            <a:ext cx="8366760" cy="329184"/>
          </a:xfrm>
          <a:prstGeom prst="rect">
            <a:avLst/>
          </a:prstGeom>
          <a:solidFill>
            <a:srgbClr val="1E34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0848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chunk_pages source preserved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29584" y="20848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chunk_pages()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0" y="20848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field matches input filename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4048" y="2395728"/>
            <a:ext cx="8366760" cy="329184"/>
          </a:xfrm>
          <a:prstGeom prst="rect">
            <a:avLst/>
          </a:prstGeom>
          <a:solidFill>
            <a:srgbClr val="162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241401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build_prompt contains query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29584" y="241401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build_prompt()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0" y="241401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 appears in constructed prompt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84048" y="2724912"/>
            <a:ext cx="8366760" cy="329184"/>
          </a:xfrm>
          <a:prstGeom prst="rect">
            <a:avLst/>
          </a:prstGeom>
          <a:solidFill>
            <a:srgbClr val="1E34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27432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build_prompt contains source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529584" y="2743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build_prompt()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0" y="274320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filename from context appears in prompt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84048" y="3054096"/>
            <a:ext cx="8366760" cy="329184"/>
          </a:xfrm>
          <a:prstGeom prst="rect">
            <a:avLst/>
          </a:prstGeom>
          <a:solidFill>
            <a:srgbClr val="162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307238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build_prompt contains history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529584" y="307238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build_prompt()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0" y="307238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conversation turns included in prompt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84048" y="3383280"/>
            <a:ext cx="8366760" cy="329184"/>
          </a:xfrm>
          <a:prstGeom prst="rect">
            <a:avLst/>
          </a:prstGeom>
          <a:solidFill>
            <a:srgbClr val="1E34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34015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stats shape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529584" y="34015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get_collection_stats()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6400" y="340156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dict: total_chunks, document_count, documents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84048" y="3712464"/>
            <a:ext cx="8366760" cy="329184"/>
          </a:xfrm>
          <a:prstGeom prst="rect">
            <a:avLst/>
          </a:prstGeom>
          <a:solidFill>
            <a:srgbClr val="162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" y="37307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stats count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529584" y="37307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get_collection_stats()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0" y="373075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total_chunks matches mocked col.count() return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84048" y="4041648"/>
            <a:ext cx="8366760" cy="329184"/>
          </a:xfrm>
          <a:prstGeom prst="rect">
            <a:avLst/>
          </a:prstGeom>
          <a:solidFill>
            <a:srgbClr val="1E34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" y="405993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stats documents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529584" y="405993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get_collection_stats()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86400" y="405993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list contains the mocked filename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84048" y="4370832"/>
            <a:ext cx="8366760" cy="329184"/>
          </a:xfrm>
          <a:prstGeom prst="rect">
            <a:avLst/>
          </a:prstGeom>
          <a:solidFill>
            <a:srgbClr val="162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" y="43891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 edge case tests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529584" y="4389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Various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486400" y="43891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history · empty collection · multi-source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84048" y="4700016"/>
            <a:ext cx="8366760" cy="274320"/>
          </a:xfrm>
          <a:prstGeom prst="rect">
            <a:avLst/>
          </a:prstGeom>
          <a:solidFill>
            <a:srgbClr val="1E34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4718304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pytest tests/ -v  ·  Mocking: @patch('rag_engine._get_chroma_client') patches at module level  ·  No network access required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problems encountered and resolved during development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667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1208" y="1261872"/>
            <a:ext cx="420624" cy="420624"/>
          </a:xfrm>
          <a:prstGeom prst="ellipse">
            <a:avLst/>
          </a:prstGeom>
          <a:solidFill>
            <a:srgbClr val="DC2626"/>
          </a:solidFill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</a:rPr>
              <a:t>Py</a:t>
            </a:r>
          </a:p>
        </p:txBody>
      </p:sp>
      <p:sp>
        <p:nvSpPr>
          <p:cNvPr id="7" name="Text 5"/>
          <p:cNvSpPr/>
          <p:nvPr/>
        </p:nvSpPr>
        <p:spPr>
          <a:xfrm>
            <a:off x="1078992" y="1152144"/>
            <a:ext cx="6638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+ Python 3.12 Incompatibility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8992" y="1481328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ChromaDB 0.4.24 raises build errors on Python 3.12+.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663440" y="14813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Pinned python:3.11-slim in Dockerfile. Added explicit comment in requirements.txt.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1993392"/>
            <a:ext cx="83667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21208" y="2176272"/>
            <a:ext cx="420624" cy="420624"/>
          </a:xfrm>
          <a:prstGeom prst="ellipse">
            <a:avLst/>
          </a:prstGeom>
          <a:solidFill>
            <a:srgbClr val="F59E0B"/>
          </a:solidFill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mbria" pitchFamily="34" charset="0"/>
              </a:rPr>
              <a:t>pip</a:t>
            </a:r>
          </a:p>
        </p:txBody>
      </p:sp>
      <p:sp>
        <p:nvSpPr>
          <p:cNvPr id="12" name="Text 10"/>
          <p:cNvSpPr/>
          <p:nvPr/>
        </p:nvSpPr>
        <p:spPr>
          <a:xfrm>
            <a:off x="1078992" y="2066544"/>
            <a:ext cx="6638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Backtracking — 12-Minute Install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8992" y="2395728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opentelemetry dependency chain caused pip to backtrack 12+ minutes on every build.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63440" y="23957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Explicitly pinned all opentelemetry-* packages. Install time dropped to ~90 seconds.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4048" y="2907792"/>
            <a:ext cx="83667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1208" y="3090672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</a:rPr>
              <a:t>CS</a:t>
            </a:r>
          </a:p>
        </p:txBody>
      </p:sp>
      <p:sp>
        <p:nvSpPr>
          <p:cNvPr id="17" name="Text 15"/>
          <p:cNvSpPr/>
          <p:nvPr/>
        </p:nvSpPr>
        <p:spPr>
          <a:xfrm>
            <a:off x="1078992" y="2980944"/>
            <a:ext cx="6638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Empty Knowledge Base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78992" y="3310128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Fresh pod deployments showed empty knowledge base until documents were manually uploaded.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63440" y="33101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Built preload.py — checks if ChromaDB is empty + keys set, then auto-indexes 5 bundled PDFs.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4048" y="3822192"/>
            <a:ext cx="83667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1208" y="4005072"/>
            <a:ext cx="420624" cy="420624"/>
          </a:xfrm>
          <a:prstGeom prst="ellipse">
            <a:avLst/>
          </a:prstGeom>
          <a:solidFill>
            <a:srgbClr val="6366F1"/>
          </a:solidFill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</a:rPr>
              <a:t>LB</a:t>
            </a:r>
          </a:p>
        </p:txBody>
      </p:sp>
      <p:sp>
        <p:nvSpPr>
          <p:cNvPr id="22" name="Text 20"/>
          <p:cNvSpPr/>
          <p:nvPr/>
        </p:nvSpPr>
        <p:spPr>
          <a:xfrm>
            <a:off x="1078992" y="3895344"/>
            <a:ext cx="6638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LoadBalancer Timeout on Large Uploads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78992" y="4224528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AWS ALB dropped connections after 60s during large PDF batch uploads.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63440" y="42245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Added aws-load-balancer-connection-idle-timeout: '600' annotation to Service manifest.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Traceability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functional requirement mapped to a specific file and function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6676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986784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60720" y="107899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/ Component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119872" y="1078992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" y="1408176"/>
            <a:ext cx="8366760" cy="320040"/>
          </a:xfrm>
          <a:prstGeom prst="rect">
            <a:avLst/>
          </a:prstGeom>
          <a:solidFill>
            <a:srgbClr val="1E34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4264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86784" y="14264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streamlit_app.py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60720" y="142646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st.file_uploader()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119872" y="1426464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4048" y="1728216"/>
            <a:ext cx="8366760" cy="320040"/>
          </a:xfrm>
          <a:prstGeom prst="rect">
            <a:avLst/>
          </a:prstGeom>
          <a:solidFill>
            <a:srgbClr val="162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74650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Processing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986784" y="174650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streamlit_app.py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760720" y="174650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index_document() on upload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119872" y="1746504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4048" y="2048256"/>
            <a:ext cx="8366760" cy="320040"/>
          </a:xfrm>
          <a:prstGeom prst="rect">
            <a:avLst/>
          </a:prstGeom>
          <a:solidFill>
            <a:srgbClr val="1E34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06654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Generation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986784" y="206654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rag_engine.py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760720" y="206654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_embed_texts() — Gemini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119872" y="2066544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84048" y="2368296"/>
            <a:ext cx="8366760" cy="320040"/>
          </a:xfrm>
          <a:prstGeom prst="rect">
            <a:avLst/>
          </a:prstGeom>
          <a:solidFill>
            <a:srgbClr val="162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238658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Storage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986784" y="238658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rag_engine.py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760720" y="2386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col.upsert() — ChromaDB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119872" y="2386584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84048" y="2688336"/>
            <a:ext cx="8366760" cy="320040"/>
          </a:xfrm>
          <a:prstGeom prst="rect">
            <a:avLst/>
          </a:prstGeom>
          <a:solidFill>
            <a:srgbClr val="1E34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270662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986784" y="27066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rag_engine.py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760720" y="270662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semantic_search()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119872" y="2706624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84048" y="3008376"/>
            <a:ext cx="8366760" cy="320040"/>
          </a:xfrm>
          <a:prstGeom prst="rect">
            <a:avLst/>
          </a:prstGeom>
          <a:solidFill>
            <a:srgbClr val="162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30266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Response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986784" y="30266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rag_engine.py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760720" y="302666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generate_response()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119872" y="3026664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84048" y="3328416"/>
            <a:ext cx="8366760" cy="320040"/>
          </a:xfrm>
          <a:prstGeom prst="rect">
            <a:avLst/>
          </a:prstGeom>
          <a:solidFill>
            <a:srgbClr val="1E34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" y="334670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Multi-turn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986784" y="334670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rag_engine.py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760720" y="334670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build_prompt() history[-6:]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119872" y="3346704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84048" y="3648456"/>
            <a:ext cx="8366760" cy="320040"/>
          </a:xfrm>
          <a:prstGeom prst="rect">
            <a:avLst/>
          </a:prstGeom>
          <a:solidFill>
            <a:srgbClr val="162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" y="366674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Citations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986784" y="366674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streamlit_app.py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760720" y="366674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citation-box expander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119872" y="3666744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84048" y="3968496"/>
            <a:ext cx="8366760" cy="320040"/>
          </a:xfrm>
          <a:prstGeom prst="rect">
            <a:avLst/>
          </a:prstGeom>
          <a:solidFill>
            <a:srgbClr val="1E34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" y="398678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986784" y="398678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streamlit_app.py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760720" y="39867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session_state + History tab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119872" y="3986784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84048" y="4288536"/>
            <a:ext cx="8366760" cy="320040"/>
          </a:xfrm>
          <a:prstGeom prst="rect">
            <a:avLst/>
          </a:prstGeom>
          <a:solidFill>
            <a:srgbClr val="1620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" y="430682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986784" y="43068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rag_engine.py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760720" y="430682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logging.basicConfig()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119872" y="4306824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384048" y="4608576"/>
            <a:ext cx="8366760" cy="320040"/>
          </a:xfrm>
          <a:prstGeom prst="rect">
            <a:avLst/>
          </a:prstGeom>
          <a:solidFill>
            <a:srgbClr val="1E34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5488" y="46268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986784" y="46268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streamlit_app.py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760720" y="462686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 + st.error()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119872" y="4626864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implementation satisfies each quality attribute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987552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9496" y="1207008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496" y="12070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78992" y="1078992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1389888"/>
            <a:ext cx="34564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2→10 pods on CPU≥70% or Memory≥80%. Stateless app + ChromaDB on PVC enables horizontal scaling.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1970532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9496" y="2189988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" y="21899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8992" y="2061972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Available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78992" y="2372868"/>
            <a:ext cx="34564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replicas min. RollingUpdate maxUnavailable=0. Zero-downtime deployments. Load-balances across pods.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953512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9496" y="3172968"/>
            <a:ext cx="420624" cy="42062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1729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8992" y="3044952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78992" y="3355848"/>
            <a:ext cx="34564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in Kubernetes Secret (base64). Non-root UID 1000. .env excluded by .gitignore + .dockerignore.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3936492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9496" y="4155948"/>
            <a:ext cx="420624" cy="42062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" y="41559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78992" y="4027932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78992" y="4338828"/>
            <a:ext cx="34564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rag_engine.py (AI) separated from streamlit_app.py (UI). PEP 8 style. Structured logging on every event.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987552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91456" y="1207008"/>
            <a:ext cx="420624" cy="42062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12070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30952" y="1078992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30952" y="1389888"/>
            <a:ext cx="34564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Dockerfile. python:3.11-slim base. All deps pinned in requirements.txt. Reproducible builds.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1970532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91456" y="2189988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91456" y="21899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30952" y="2061972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Ready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30952" y="2372868"/>
            <a:ext cx="34564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apply -f k8s/ deploys everything. gp2 StorageClass PVC. ECR for images. ConfigMap + Secret.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63440" y="2953512"/>
            <a:ext cx="4251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91456" y="3172968"/>
            <a:ext cx="420624" cy="420624"/>
          </a:xfrm>
          <a:prstGeom prst="ellipse">
            <a:avLst/>
          </a:prstGeom>
          <a:solidFill>
            <a:srgbClr val="4DD0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91456" y="31729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330952" y="3044952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Deployable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30952" y="3355848"/>
            <a:ext cx="34564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manifests in k8s/. CI/CD in .github/workflows/. git push → full test → build → deploy in ~3 min.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Key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2011680" cy="1115568"/>
          </a:xfrm>
          <a:prstGeom prst="roundRect">
            <a:avLst>
              <a:gd name="adj" fmla="val 6557"/>
            </a:avLst>
          </a:prstGeom>
          <a:solidFill>
            <a:srgbClr val="1B2A3B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70432" y="914400"/>
            <a:ext cx="493776" cy="49377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0432" y="91440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84632" y="1463040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llama-3.3-70b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" y="1737360"/>
            <a:ext cx="18653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Model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14600" y="822960"/>
            <a:ext cx="2011680" cy="1115568"/>
          </a:xfrm>
          <a:prstGeom prst="roundRect">
            <a:avLst>
              <a:gd name="adj" fmla="val 6557"/>
            </a:avLst>
          </a:prstGeom>
          <a:solidFill>
            <a:srgbClr val="1B2A3B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73552" y="914400"/>
            <a:ext cx="493776" cy="49377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73552" y="91440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587752" y="1463040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3,072 dims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87752" y="1737360"/>
            <a:ext cx="18653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Size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17720" y="822960"/>
            <a:ext cx="2011680" cy="1115568"/>
          </a:xfrm>
          <a:prstGeom prst="roundRect">
            <a:avLst>
              <a:gd name="adj" fmla="val 6557"/>
            </a:avLst>
          </a:prstGeom>
          <a:solidFill>
            <a:srgbClr val="1B2A3B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76672" y="914400"/>
            <a:ext cx="493776" cy="49377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76672" y="91440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90872" y="1463040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 / 200 tok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90872" y="1737360"/>
            <a:ext cx="18653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/ Overlap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20840" y="822960"/>
            <a:ext cx="2011680" cy="1115568"/>
          </a:xfrm>
          <a:prstGeom prst="roundRect">
            <a:avLst>
              <a:gd name="adj" fmla="val 6557"/>
            </a:avLst>
          </a:prstGeom>
          <a:solidFill>
            <a:srgbClr val="1B2A3B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79792" y="914400"/>
            <a:ext cx="493776" cy="49377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79792" y="91440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K=5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793992" y="1463040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93992" y="1737360"/>
            <a:ext cx="18653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2029968"/>
            <a:ext cx="2011680" cy="1115568"/>
          </a:xfrm>
          <a:prstGeom prst="roundRect">
            <a:avLst>
              <a:gd name="adj" fmla="val 6557"/>
            </a:avLst>
          </a:prstGeom>
          <a:solidFill>
            <a:srgbClr val="1B2A3B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170432" y="2121408"/>
            <a:ext cx="493776" cy="49377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70432" y="212140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" y="2670048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docs · 64 chunks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" y="2944368"/>
            <a:ext cx="18653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KB on EKS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14600" y="2029968"/>
            <a:ext cx="2011680" cy="1115568"/>
          </a:xfrm>
          <a:prstGeom prst="roundRect">
            <a:avLst>
              <a:gd name="adj" fmla="val 6557"/>
            </a:avLst>
          </a:prstGeom>
          <a:solidFill>
            <a:srgbClr val="1B2A3B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73552" y="2121408"/>
            <a:ext cx="493776" cy="493776"/>
          </a:xfrm>
          <a:prstGeom prst="ellipse">
            <a:avLst/>
          </a:prstGeom>
          <a:solidFill>
            <a:srgbClr val="4DD0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73552" y="212140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587752" y="2670048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tests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587752" y="2944368"/>
            <a:ext cx="18653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17720" y="2029968"/>
            <a:ext cx="2011680" cy="1115568"/>
          </a:xfrm>
          <a:prstGeom prst="roundRect">
            <a:avLst>
              <a:gd name="adj" fmla="val 6557"/>
            </a:avLst>
          </a:prstGeom>
          <a:solidFill>
            <a:srgbClr val="1B2A3B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376672" y="2121408"/>
            <a:ext cx="493776" cy="49377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76672" y="212140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690872" y="2670048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 minutes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690872" y="2944368"/>
            <a:ext cx="18653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Runtime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720840" y="2029968"/>
            <a:ext cx="2011680" cy="1115568"/>
          </a:xfrm>
          <a:prstGeom prst="roundRect">
            <a:avLst>
              <a:gd name="adj" fmla="val 6557"/>
            </a:avLst>
          </a:prstGeom>
          <a:solidFill>
            <a:srgbClr val="1B2A3B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479792" y="2121408"/>
            <a:ext cx="493776" cy="49377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79792" y="212140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HPA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793992" y="2670048"/>
            <a:ext cx="18653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→ 10 pods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793992" y="2944368"/>
            <a:ext cx="18653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Autoscale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" y="3236976"/>
            <a:ext cx="8321040" cy="1664208"/>
          </a:xfrm>
          <a:prstGeom prst="roundRect">
            <a:avLst>
              <a:gd name="adj" fmla="val 4396"/>
            </a:avLst>
          </a:prstGeom>
          <a:solidFill>
            <a:srgbClr val="1B2A3B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21792" y="33467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11480" y="3675888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0A231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367588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Source Code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514600" y="3675888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0A231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14600" y="367588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Streamlit App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17720" y="3675888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0A231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17720" y="367588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Dockerfile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720840" y="3675888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0A231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20840" y="367588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K8s Manifests (×6)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11480" y="4242816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0A231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4242816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CI/CD Pipeline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514600" y="4242816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0A231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14600" y="4242816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Unit Tests (12)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617720" y="4242816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0A231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17720" y="4242816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README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412480" y="491947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Criteria — Meeting the Rubric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1024128"/>
            <a:ext cx="83667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21208" y="1097280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mbria" pitchFamily="34" charset="0"/>
              </a:rPr>
              <a:t>RAG</a:t>
            </a:r>
          </a:p>
        </p:txBody>
      </p:sp>
      <p:sp>
        <p:nvSpPr>
          <p:cNvPr id="6" name="Text 4"/>
          <p:cNvSpPr/>
          <p:nvPr/>
        </p:nvSpPr>
        <p:spPr>
          <a:xfrm>
            <a:off x="1078992" y="10789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RAG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566160" y="1078992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parse → chunk → Gemini embed → ChromaDB → Groq LLM → citations. Explicitly coded without any RAG framework.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" y="1691640"/>
            <a:ext cx="83667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21208" y="1764792"/>
            <a:ext cx="420624" cy="420624"/>
          </a:xfrm>
          <a:prstGeom prst="ellipse">
            <a:avLst/>
          </a:prstGeom>
          <a:solidFill>
            <a:srgbClr val="F59E0B"/>
          </a:solidFill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</a:rPr>
              <a:t>RQ</a:t>
            </a:r>
          </a:p>
        </p:txBody>
      </p:sp>
      <p:sp>
        <p:nvSpPr>
          <p:cNvPr id="10" name="Text 8"/>
          <p:cNvSpPr/>
          <p:nvPr/>
        </p:nvSpPr>
        <p:spPr>
          <a:xfrm>
            <a:off x="1078992" y="174650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566160" y="1746504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task_type pairing, RecursiveCharacterTextSplitter with semantic separators, 200-token overlap at boundaries.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" y="2359152"/>
            <a:ext cx="83667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21208" y="2432304"/>
            <a:ext cx="420624" cy="420624"/>
          </a:xfrm>
          <a:prstGeom prst="ellipse">
            <a:avLst/>
          </a:prstGeom>
          <a:solidFill>
            <a:srgbClr val="059669"/>
          </a:solidFill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</a:rPr>
              <a:t>GC</a:t>
            </a:r>
          </a:p>
        </p:txBody>
      </p:sp>
      <p:sp>
        <p:nvSpPr>
          <p:cNvPr id="14" name="Text 12"/>
          <p:cNvSpPr/>
          <p:nvPr/>
        </p:nvSpPr>
        <p:spPr>
          <a:xfrm>
            <a:off x="1078992" y="241401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with Citations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566160" y="2414016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prompt: 'ONLY from context'. temperature=0.1. Inline [Source: file, Page X] citations + similarity % expander.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" y="3026664"/>
            <a:ext cx="83667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1208" y="3099816"/>
            <a:ext cx="420624" cy="420624"/>
          </a:xfrm>
          <a:prstGeom prst="ellipse">
            <a:avLst/>
          </a:prstGeom>
          <a:solidFill>
            <a:srgbClr val="6366F1"/>
          </a:solidFill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</a:rPr>
              <a:t>AI</a:t>
            </a:r>
          </a:p>
        </p:txBody>
      </p:sp>
      <p:sp>
        <p:nvSpPr>
          <p:cNvPr id="18" name="Text 16"/>
          <p:cNvSpPr/>
          <p:nvPr/>
        </p:nvSpPr>
        <p:spPr>
          <a:xfrm>
            <a:off x="1078992" y="308152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 Design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566160" y="3081528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code (rag_engine vs streamlit_app). Lazy clients. MD5 idempotency. Structured logging. Graceful error handling.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3694176"/>
            <a:ext cx="83667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1208" y="3767328"/>
            <a:ext cx="420624" cy="420624"/>
          </a:xfrm>
          <a:prstGeom prst="ellipse">
            <a:avLst/>
          </a:prstGeom>
          <a:solidFill>
            <a:srgbClr val="DC2626"/>
          </a:solidFill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</a:rPr>
              <a:t>DP</a:t>
            </a:r>
          </a:p>
        </p:txBody>
      </p:sp>
      <p:sp>
        <p:nvSpPr>
          <p:cNvPr id="22" name="Text 20"/>
          <p:cNvSpPr/>
          <p:nvPr/>
        </p:nvSpPr>
        <p:spPr>
          <a:xfrm>
            <a:off x="1078992" y="37490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Deployment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566160" y="374904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manifests on EKS eu-north-1. Zero-downtime rolling update. PVC. LoadBalancer 600s. HPA 2→10 pods.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4048" y="4361688"/>
            <a:ext cx="83667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21208" y="4434840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</a:rPr>
              <a:t>CI</a:t>
            </a:r>
          </a:p>
        </p:txBody>
      </p:sp>
      <p:sp>
        <p:nvSpPr>
          <p:cNvPr id="26" name="Text 24"/>
          <p:cNvSpPr/>
          <p:nvPr/>
        </p:nvSpPr>
        <p:spPr>
          <a:xfrm>
            <a:off x="1078992" y="44165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Automation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566160" y="4416552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3-job GitHub Actions in ~3 min. Job 1: 12 mocked tests. Job 2: ECR push :sha. Job 3: sed-patched deploy + rollout wait.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that require minimal refactoring due to the modular design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4048" y="1170432"/>
            <a:ext cx="4251960" cy="1115568"/>
          </a:xfrm>
          <a:prstGeom prst="roundRect">
            <a:avLst>
              <a:gd name="adj" fmla="val 8197"/>
            </a:avLst>
          </a:prstGeom>
          <a:solidFill>
            <a:srgbClr val="1E3448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499616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mbria" pitchFamily="34" charset="0"/>
              </a:rPr>
              <a:t>LLM</a:t>
            </a:r>
          </a:p>
        </p:txBody>
      </p:sp>
      <p:sp>
        <p:nvSpPr>
          <p:cNvPr id="7" name="Text 5"/>
          <p:cNvSpPr/>
          <p:nvPr/>
        </p:nvSpPr>
        <p:spPr>
          <a:xfrm>
            <a:off x="1042416" y="12618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LLM Provider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2416" y="1581912"/>
            <a:ext cx="3474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CHAT_MODEL constant in rag_engine.py from Groq to OpenAI GPT-4 or Anthropic Claude — one line.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18888" y="1170432"/>
            <a:ext cx="4251960" cy="1115568"/>
          </a:xfrm>
          <a:prstGeom prst="roundRect">
            <a:avLst>
              <a:gd name="adj" fmla="val 8197"/>
            </a:avLst>
          </a:prstGeom>
          <a:solidFill>
            <a:srgbClr val="1E3448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65192" y="1499616"/>
            <a:ext cx="402336" cy="402336"/>
          </a:xfrm>
          <a:prstGeom prst="ellipse">
            <a:avLst/>
          </a:prstGeom>
          <a:solidFill>
            <a:srgbClr val="F59E0B"/>
          </a:solidFill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</a:rPr>
              <a:t>DB</a:t>
            </a:r>
          </a:p>
        </p:txBody>
      </p:sp>
      <p:sp>
        <p:nvSpPr>
          <p:cNvPr id="11" name="Text 9"/>
          <p:cNvSpPr/>
          <p:nvPr/>
        </p:nvSpPr>
        <p:spPr>
          <a:xfrm>
            <a:off x="5477256" y="12618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Vector DB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77256" y="1581912"/>
            <a:ext cx="3474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ChromaDB with Pinecone for managed vector search — modify _get_collection() only.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2432304"/>
            <a:ext cx="4251960" cy="1115568"/>
          </a:xfrm>
          <a:prstGeom prst="roundRect">
            <a:avLst>
              <a:gd name="adj" fmla="val 8197"/>
            </a:avLst>
          </a:prstGeom>
          <a:solidFill>
            <a:srgbClr val="1E3448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0352" y="2761488"/>
            <a:ext cx="402336" cy="402336"/>
          </a:xfrm>
          <a:prstGeom prst="ellipse">
            <a:avLst/>
          </a:prstGeom>
          <a:solidFill>
            <a:srgbClr val="059669"/>
          </a:solidFill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</a:rPr>
              <a:t>Re</a:t>
            </a:r>
          </a:p>
        </p:txBody>
      </p:sp>
      <p:sp>
        <p:nvSpPr>
          <p:cNvPr id="15" name="Text 13"/>
          <p:cNvSpPr/>
          <p:nvPr/>
        </p:nvSpPr>
        <p:spPr>
          <a:xfrm>
            <a:off x="1042416" y="252374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42416" y="2843784"/>
            <a:ext cx="3474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cross-encoder (e.g. ms-marco-MiniLM) after Top-5 retrieval to improve relevance ordering.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18888" y="2432304"/>
            <a:ext cx="4251960" cy="1115568"/>
          </a:xfrm>
          <a:prstGeom prst="roundRect">
            <a:avLst>
              <a:gd name="adj" fmla="val 8197"/>
            </a:avLst>
          </a:prstGeom>
          <a:solidFill>
            <a:srgbClr val="1E3448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65192" y="2761488"/>
            <a:ext cx="402336" cy="402336"/>
          </a:xfrm>
          <a:prstGeom prst="ellipse">
            <a:avLst/>
          </a:prstGeom>
          <a:solidFill>
            <a:srgbClr val="6366F1"/>
          </a:solidFill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</a:rPr>
              <a:t>Au</a:t>
            </a:r>
          </a:p>
        </p:txBody>
      </p:sp>
      <p:sp>
        <p:nvSpPr>
          <p:cNvPr id="19" name="Text 17"/>
          <p:cNvSpPr/>
          <p:nvPr/>
        </p:nvSpPr>
        <p:spPr>
          <a:xfrm>
            <a:off x="5477256" y="252374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77256" y="2843784"/>
            <a:ext cx="3474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Streamlit-Authenticator or OAuth2 for user login and per-user document collections.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4048" y="3694176"/>
            <a:ext cx="4251960" cy="1115568"/>
          </a:xfrm>
          <a:prstGeom prst="roundRect">
            <a:avLst>
              <a:gd name="adj" fmla="val 8197"/>
            </a:avLst>
          </a:prstGeom>
          <a:solidFill>
            <a:srgbClr val="1E3448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0352" y="4023360"/>
            <a:ext cx="402336" cy="402336"/>
          </a:xfrm>
          <a:prstGeom prst="ellipse">
            <a:avLst/>
          </a:prstGeom>
          <a:solidFill>
            <a:srgbClr val="DC2626"/>
          </a:solidFill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</a:rPr>
              <a:t>PS</a:t>
            </a:r>
          </a:p>
        </p:txBody>
      </p:sp>
      <p:sp>
        <p:nvSpPr>
          <p:cNvPr id="23" name="Text 21"/>
          <p:cNvSpPr/>
          <p:nvPr/>
        </p:nvSpPr>
        <p:spPr>
          <a:xfrm>
            <a:off x="1042416" y="37856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Sessions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42416" y="4105656"/>
            <a:ext cx="3474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conversation_history from session_state to Redis or PostgreSQL for cross-session memory.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18888" y="3694176"/>
            <a:ext cx="4251960" cy="1115568"/>
          </a:xfrm>
          <a:prstGeom prst="roundRect">
            <a:avLst>
              <a:gd name="adj" fmla="val 8197"/>
            </a:avLst>
          </a:prstGeom>
          <a:solidFill>
            <a:srgbClr val="1E3448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65192" y="4023360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</a:rPr>
              <a:t>Mo</a:t>
            </a:r>
          </a:p>
        </p:txBody>
      </p:sp>
      <p:sp>
        <p:nvSpPr>
          <p:cNvPr id="27" name="Text 25"/>
          <p:cNvSpPr/>
          <p:nvPr/>
        </p:nvSpPr>
        <p:spPr>
          <a:xfrm>
            <a:off x="5477256" y="37856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77256" y="4105656"/>
            <a:ext cx="3474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metrics, Grafana dashboards, CloudWatch alarms for latency, error rate, pod health.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274320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786384"/>
          </a:xfrm>
          <a:prstGeom prst="roundRect">
            <a:avLst>
              <a:gd name="adj" fmla="val 11628"/>
            </a:avLst>
          </a:prstGeom>
          <a:solidFill>
            <a:srgbClr val="1E3448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12064" y="1335024"/>
            <a:ext cx="438912" cy="438912"/>
          </a:xfrm>
          <a:prstGeom prst="ellipse">
            <a:avLst/>
          </a:prstGeom>
          <a:solidFill>
            <a:srgbClr val="0D9488"/>
          </a:solidFill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mbria" pitchFamily="34" charset="0"/>
              </a:rPr>
              <a:t>RAG</a:t>
            </a:r>
          </a:p>
        </p:txBody>
      </p:sp>
      <p:sp>
        <p:nvSpPr>
          <p:cNvPr id="7" name="Text 5"/>
          <p:cNvSpPr/>
          <p:nvPr/>
        </p:nvSpPr>
        <p:spPr>
          <a:xfrm>
            <a:off x="1097280" y="124358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RAG Pipeline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554480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Gemini embeddings → ChromaDB → Groq LLM → grounded citations. Every component explicitly coded. 12 docs · 64 chunks live on EKS.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084832"/>
            <a:ext cx="8412480" cy="786384"/>
          </a:xfrm>
          <a:prstGeom prst="roundRect">
            <a:avLst>
              <a:gd name="adj" fmla="val 11628"/>
            </a:avLst>
          </a:prstGeom>
          <a:solidFill>
            <a:srgbClr val="1E3448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12064" y="2249424"/>
            <a:ext cx="438912" cy="438912"/>
          </a:xfrm>
          <a:prstGeom prst="ellipse">
            <a:avLst/>
          </a:prstGeom>
          <a:solidFill>
            <a:srgbClr val="F59E0B"/>
          </a:solidFill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</a:rPr>
              <a:t>DP</a:t>
            </a:r>
          </a:p>
        </p:txBody>
      </p:sp>
      <p:sp>
        <p:nvSpPr>
          <p:cNvPr id="11" name="Text 9"/>
          <p:cNvSpPr/>
          <p:nvPr/>
        </p:nvSpPr>
        <p:spPr>
          <a:xfrm>
            <a:off x="1097280" y="215798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468880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EKS eu-north-1 · 2 replicas · zero-downtime rolling updates · HPA 2→10 pods · 3-min CI/CD pipeline triggered by git push.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999232"/>
            <a:ext cx="8412480" cy="786384"/>
          </a:xfrm>
          <a:prstGeom prst="roundRect">
            <a:avLst>
              <a:gd name="adj" fmla="val 11628"/>
            </a:avLst>
          </a:prstGeom>
          <a:solidFill>
            <a:srgbClr val="1E3448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12064" y="3163824"/>
            <a:ext cx="438912" cy="438912"/>
          </a:xfrm>
          <a:prstGeom prst="ellipse">
            <a:avLst/>
          </a:prstGeom>
          <a:solidFill>
            <a:srgbClr val="059669"/>
          </a:solidFill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</a:rPr>
              <a:t>$0</a:t>
            </a:r>
          </a:p>
        </p:txBody>
      </p:sp>
      <p:sp>
        <p:nvSpPr>
          <p:cNvPr id="15" name="Text 13"/>
          <p:cNvSpPr/>
          <p:nvPr/>
        </p:nvSpPr>
        <p:spPr>
          <a:xfrm>
            <a:off x="1097280" y="307238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Zero-Cost Development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383280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free LLM + Gemini free embeddings + ChromaDB local = zero API cost. Enterprise-grade RAG without a large budget.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913632"/>
            <a:ext cx="8412480" cy="786384"/>
          </a:xfrm>
          <a:prstGeom prst="roundRect">
            <a:avLst>
              <a:gd name="adj" fmla="val 11628"/>
            </a:avLst>
          </a:prstGeom>
          <a:solidFill>
            <a:srgbClr val="1E3448"/>
          </a:solidFill>
          <a:ln/>
          <a:effectLst>
            <a:outerShdw sx="100000" sy="100000" kx="0" ky="0" algn="bl" rotWithShape="0" blurRad="63500" dist="25400" dir="27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2064" y="4078224"/>
            <a:ext cx="438912" cy="438912"/>
          </a:xfrm>
          <a:prstGeom prst="ellipse">
            <a:avLst/>
          </a:prstGeom>
          <a:solidFill>
            <a:srgbClr val="6366F1"/>
          </a:solidFill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</a:rPr>
              <a:t>VN</a:t>
            </a:r>
          </a:p>
        </p:txBody>
      </p:sp>
      <p:sp>
        <p:nvSpPr>
          <p:cNvPr id="19" name="Text 17"/>
          <p:cNvSpPr/>
          <p:nvPr/>
        </p:nvSpPr>
        <p:spPr>
          <a:xfrm>
            <a:off x="1097280" y="398678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Vendor-Neutral Design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4297680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LLM, embedding model, or vector DB by changing one constant in rag_engine.py. Architecture is not locked to any vendor.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809744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Sasank2126/finvista-assistant  ·  Groq · Gemini · ChromaDB · Streamlit · Docker · Kubernetes · AWS EKS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FinVista Capital — Financial Intelligence Assistant</dc:title>
  <dc:subject>PptxGenJS Presentation</dc:subject>
  <dc:creator>PptxGenJS</dc:creator>
  <cp:lastModifiedBy>PptxGenJS</cp:lastModifiedBy>
  <cp:revision>1</cp:revision>
  <dcterms:created xsi:type="dcterms:W3CDTF">2026-06-28T08:58:59Z</dcterms:created>
  <dcterms:modified xsi:type="dcterms:W3CDTF">2026-06-28T08:58:59Z</dcterms:modified>
</cp:coreProperties>
</file>